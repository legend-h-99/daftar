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8892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" y="1124712"/>
            <a:ext cx="2459736" cy="6400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271016"/>
            <a:ext cx="22768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1914"/>
                </a:solidFill>
                <a:latin typeface="Tajawal"/>
              </a:rPr>
              <a:t>الرئيسية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947672"/>
            <a:ext cx="2386584" cy="111556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30552"/>
            <a:ext cx="214883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7353"/>
                </a:solidFill>
                <a:latin typeface="Tajawal"/>
              </a:rPr>
              <a:t>صافي الربح
١٬٨٤٠ ر.س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35584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47472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1914"/>
                </a:solidFill>
                <a:latin typeface="Tajawal"/>
              </a:rPr>
              <a:t>المبيعات     ٣٬٥٠٠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95020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06908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1914"/>
                </a:solidFill>
                <a:latin typeface="Tajawal"/>
              </a:rPr>
              <a:t>المصاريف       ٩٦٠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54456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466344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1914"/>
                </a:solidFill>
                <a:latin typeface="Tajawal"/>
              </a:rPr>
              <a:t>لي عند         ٣٢٠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513892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525780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1914"/>
                </a:solidFill>
                <a:latin typeface="Tajawal"/>
              </a:rPr>
              <a:t>مخزون منخفض   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0" y="566928"/>
            <a:ext cx="658368" cy="65836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58521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417320"/>
            <a:ext cx="374903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4200" b="1">
                <a:solidFill>
                  <a:srgbClr val="FFFFFF"/>
                </a:solidFill>
                <a:latin typeface="Tajawal"/>
              </a:rPr>
              <a:t>دفتر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514600"/>
            <a:ext cx="37947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800" b="1">
                <a:solidFill>
                  <a:srgbClr val="FFFFFF"/>
                </a:solidFill>
                <a:latin typeface="Tajawal"/>
              </a:rPr>
              <a:t>برنامج محاسبي بسيط للأعمال الصغيرة جدًا، والفردية، والمنزلية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97763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00" b="0">
                <a:solidFill>
                  <a:srgbClr val="D1FAE5"/>
                </a:solidFill>
                <a:latin typeface="Tajawal"/>
              </a:rPr>
              <a:t>حساباتك اليومية بوضوح — من جوالك، بلغتك، بدون مصطلحات محاسبية.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989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00" b="0">
                <a:solidFill>
                  <a:srgbClr val="D1FAE5"/>
                </a:solidFill>
                <a:latin typeface="Tajawal"/>
              </a:rPr>
              <a:t>بنك التنمية · المستثمرون · الشركاء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القصة في جملة واحدة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دفتر يحوّل الحسابات اليومية إلى رقم ربح واضح.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0149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700" b="1">
                <a:solidFill>
                  <a:srgbClr val="0F7353"/>
                </a:solidFill>
                <a:latin typeface="Tajawal"/>
              </a:rPr>
              <a:t>لصاحب عمل صغير جدًا يبيع من البيت أو يعمل لحسابه، دفتر هو المكان الذي يعرف منه: كم بعت؟ كم صرفت؟ مين ما دفع؟ وكم ربحت فعلاً؟</a:t>
            </a:r>
          </a:p>
        </p:txBody>
      </p:sp>
      <p:sp>
        <p:nvSpPr>
          <p:cNvPr id="11" name="Oval 10"/>
          <p:cNvSpPr/>
          <p:nvPr/>
        </p:nvSpPr>
        <p:spPr>
          <a:xfrm>
            <a:off x="10853928" y="390448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94760"/>
            <a:ext cx="95646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550" b="0">
                <a:solidFill>
                  <a:srgbClr val="101914"/>
                </a:solidFill>
                <a:latin typeface="Tajawal"/>
              </a:rPr>
              <a:t>بسيط بما يكفي لأول يوم استخدام.</a:t>
            </a:r>
          </a:p>
        </p:txBody>
      </p:sp>
      <p:sp>
        <p:nvSpPr>
          <p:cNvPr id="13" name="Oval 12"/>
          <p:cNvSpPr/>
          <p:nvPr/>
        </p:nvSpPr>
        <p:spPr>
          <a:xfrm>
            <a:off x="10853928" y="4379976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70248"/>
            <a:ext cx="95646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550" b="0">
                <a:solidFill>
                  <a:srgbClr val="101914"/>
                </a:solidFill>
                <a:latin typeface="Tajawal"/>
              </a:rPr>
              <a:t>محلي في لغته وسلوكه: “لي عند”، “الزباين”، “ربحي”.</a:t>
            </a:r>
          </a:p>
        </p:txBody>
      </p:sp>
      <p:sp>
        <p:nvSpPr>
          <p:cNvPr id="15" name="Oval 14"/>
          <p:cNvSpPr/>
          <p:nvPr/>
        </p:nvSpPr>
        <p:spPr>
          <a:xfrm>
            <a:off x="10853928" y="4855464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745736"/>
            <a:ext cx="95646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550" b="0">
                <a:solidFill>
                  <a:srgbClr val="101914"/>
                </a:solidFill>
                <a:latin typeface="Tajawal"/>
              </a:rPr>
              <a:t>يبني سجلاً مالياً يساعد القرار، التمويل، والنمو.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المشكلة ليست نقص أدوات، بل سوء ملاءمة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الأدوات الموجودة صممت للشركات أو للمحاسبين.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338328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6479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ورقة وقلم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301752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مألوفة، لكنها تضيع ولا تحسب ولا تذكّر.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38328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6479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واتساب وExcel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67128"/>
            <a:ext cx="301752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قنوات بيع وسجلات متفرقة. لا مصدر حقيقة واحد.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38328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76479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برامج محاسبة ثقيلة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67128"/>
            <a:ext cx="3017520" cy="2679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مصطلحات، إعداد طويل، وميزات أكثر من الحاجة.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13248"/>
            <a:ext cx="10332720" cy="566928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559552"/>
            <a:ext cx="9966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Tajawal"/>
              </a:rPr>
              <a:t>النتيجة: دخل معروف، ربح مجهول، وديون تُنسى.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لمن نبني دفتر؟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الأعمال الصغيرة جدًا والفردية والمنزلية.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737360"/>
            <a:ext cx="333756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0195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الأعمال المنزلية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04288"/>
            <a:ext cx="297180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طعام، حلويات، قهوة، حرف، منتجات يدوية.
بيع عبر واتساب وإنستغرام.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737360"/>
            <a:ext cx="333756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90195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الأعمال الفردية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04288"/>
            <a:ext cx="297180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مصمم، مدرب، مدرس، كاتب، مصور.
دخل متفرق وتحويلات بنكية.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37360"/>
            <a:ext cx="333756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90195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الصغيرة جدًا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304288"/>
            <a:ext cx="2971800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نشاط من شخص إلى 5 أشخاص.
غالبًا بلا محاسب أو نظام مالي.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349240"/>
            <a:ext cx="10149840" cy="50292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486400"/>
            <a:ext cx="9784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0F7353"/>
                </a:solidFill>
                <a:latin typeface="Tajawal"/>
              </a:rPr>
              <a:t>القاسم المشترك: صاحب القرار هو نفس الشخص الذي يبيع ويسجل ويتابع التحصيل.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لماذا الآن؟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تغيّر السوق سبق الأدوات.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00200"/>
            <a:ext cx="48006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764792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وثيقة العمل الحر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67128"/>
            <a:ext cx="44348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شرعنة ونمو للعمل الفردي والمنزلي.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48006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البيع عبر واتساب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67128"/>
            <a:ext cx="4434840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قناة البيع اليومية أصبحت رقمية، لكن الحسابات بقيت يدوية.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66160"/>
            <a:ext cx="48006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30752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رؤية 2030 والتمكين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33087"/>
            <a:ext cx="44348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أولوية وطنية لرفع كفاءة الأعمال الصغيرة والأسر المنتجة.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566160"/>
            <a:ext cx="480060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730752"/>
            <a:ext cx="4434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فجوة المنتج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33087"/>
            <a:ext cx="44348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لا يوجد منتج يملك تموضع: اعرف ربحك الحقيقي بدون محاسب.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الحل: دفتر ورقي ذكي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مألوف كدفتر الحساب، لكنه يحسب ويحفظ ويذكّر.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051560"/>
            <a:ext cx="2788920" cy="5166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216151"/>
            <a:ext cx="2459736" cy="6400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362456"/>
            <a:ext cx="22768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1914"/>
                </a:solidFill>
                <a:latin typeface="Tajawal"/>
              </a:rPr>
              <a:t>الرئيسية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2039112"/>
            <a:ext cx="2386584" cy="111556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221991"/>
            <a:ext cx="214883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F7353"/>
                </a:solidFill>
                <a:latin typeface="Tajawal"/>
              </a:rPr>
              <a:t>صافي الربح
١٬٨٤٠ ر.س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44728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56616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1914"/>
                </a:solidFill>
                <a:latin typeface="Tajawal"/>
              </a:rPr>
              <a:t>المبيعات     ٣٬٥٠٠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04164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16052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1914"/>
                </a:solidFill>
                <a:latin typeface="Tajawal"/>
              </a:rPr>
              <a:t>المصاريف       ٩٦٠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63600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75488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1914"/>
                </a:solidFill>
                <a:latin typeface="Tajawal"/>
              </a:rPr>
              <a:t>لي عند         ٣٢٠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5230368"/>
            <a:ext cx="2386584" cy="457200"/>
          </a:xfrm>
          <a:prstGeom prst="roundRect">
            <a:avLst/>
          </a:prstGeom>
          <a:solidFill>
            <a:srgbClr val="F9FAFB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349240"/>
            <a:ext cx="2167127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01914"/>
                </a:solidFill>
                <a:latin typeface="Tajawal"/>
              </a:rPr>
              <a:t>مخزون منخفض   ٣</a:t>
            </a:r>
          </a:p>
        </p:txBody>
      </p:sp>
      <p:sp>
        <p:nvSpPr>
          <p:cNvPr id="23" name="Oval 22"/>
          <p:cNvSpPr/>
          <p:nvPr/>
        </p:nvSpPr>
        <p:spPr>
          <a:xfrm>
            <a:off x="10991088" y="161848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508760"/>
            <a:ext cx="6272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يسجل المبيعات والمصاريف والفواتير.</a:t>
            </a:r>
          </a:p>
        </p:txBody>
      </p:sp>
      <p:sp>
        <p:nvSpPr>
          <p:cNvPr id="25" name="Oval 24"/>
          <p:cNvSpPr/>
          <p:nvPr/>
        </p:nvSpPr>
        <p:spPr>
          <a:xfrm>
            <a:off x="10991088" y="2185416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075688"/>
            <a:ext cx="6272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يحسب تكلفة المنتج من الوصفة والمواد الخام.</a:t>
            </a:r>
          </a:p>
        </p:txBody>
      </p:sp>
      <p:sp>
        <p:nvSpPr>
          <p:cNvPr id="27" name="Oval 26"/>
          <p:cNvSpPr/>
          <p:nvPr/>
        </p:nvSpPr>
        <p:spPr>
          <a:xfrm>
            <a:off x="10991088" y="2752344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642616"/>
            <a:ext cx="6272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يتابع “لي عند الزباين” والتحصيل الجزئي.</a:t>
            </a:r>
          </a:p>
        </p:txBody>
      </p:sp>
      <p:sp>
        <p:nvSpPr>
          <p:cNvPr id="29" name="Oval 28"/>
          <p:cNvSpPr/>
          <p:nvPr/>
        </p:nvSpPr>
        <p:spPr>
          <a:xfrm>
            <a:off x="10991088" y="3319272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209544"/>
            <a:ext cx="6272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يعرض صافي الربح الشهري في رقم واحد واضح.</a:t>
            </a:r>
          </a:p>
        </p:txBody>
      </p:sp>
      <p:sp>
        <p:nvSpPr>
          <p:cNvPr id="31" name="Oval 30"/>
          <p:cNvSpPr/>
          <p:nvPr/>
        </p:nvSpPr>
        <p:spPr>
          <a:xfrm>
            <a:off x="10991088" y="3886200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776472"/>
            <a:ext cx="6272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يعمل بلغة عربية يومية لا بلغة محاسبية.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منطق المنتج يبدأ من حياة المستخدم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وصفة → تكلفة → سعر → فاتورة → ربح.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23317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39112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وصفة المنتج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41448"/>
            <a:ext cx="1965960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مواد خام وتغليف وكميات</a:t>
            </a:r>
          </a:p>
        </p:txBody>
      </p:sp>
      <p:sp>
        <p:nvSpPr>
          <p:cNvPr id="13" name="Oval 12"/>
          <p:cNvSpPr/>
          <p:nvPr/>
        </p:nvSpPr>
        <p:spPr>
          <a:xfrm>
            <a:off x="1691640" y="1307592"/>
            <a:ext cx="502920" cy="50292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13898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jawal"/>
              </a:rPr>
              <a:t>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874519"/>
            <a:ext cx="23317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2039112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تكلفة وسعر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441448"/>
            <a:ext cx="1965960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يحسب التكلفة والسعر المقترح</a:t>
            </a:r>
          </a:p>
        </p:txBody>
      </p:sp>
      <p:sp>
        <p:nvSpPr>
          <p:cNvPr id="18" name="Oval 17"/>
          <p:cNvSpPr/>
          <p:nvPr/>
        </p:nvSpPr>
        <p:spPr>
          <a:xfrm>
            <a:off x="4480560" y="1307592"/>
            <a:ext cx="502920" cy="50292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3898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jawal"/>
              </a:rPr>
              <a:t>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1874519"/>
            <a:ext cx="23317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2039112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فاتورة وواتساب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2441448"/>
            <a:ext cx="1965960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PDF بسيط يرسل للزبون</a:t>
            </a:r>
          </a:p>
        </p:txBody>
      </p:sp>
      <p:sp>
        <p:nvSpPr>
          <p:cNvPr id="23" name="Oval 22"/>
          <p:cNvSpPr/>
          <p:nvPr/>
        </p:nvSpPr>
        <p:spPr>
          <a:xfrm>
            <a:off x="7269479" y="1307592"/>
            <a:ext cx="502920" cy="50292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79" y="13898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jawal"/>
              </a:rPr>
              <a:t>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3999" y="1874519"/>
            <a:ext cx="2331720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9" y="2039112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تحصيل وربح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79" y="2441448"/>
            <a:ext cx="1965960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من دفع؟ وكم الربح الصافي؟</a:t>
            </a:r>
          </a:p>
        </p:txBody>
      </p:sp>
      <p:sp>
        <p:nvSpPr>
          <p:cNvPr id="28" name="Oval 27"/>
          <p:cNvSpPr/>
          <p:nvPr/>
        </p:nvSpPr>
        <p:spPr>
          <a:xfrm>
            <a:off x="10058399" y="1307592"/>
            <a:ext cx="502920" cy="502920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399" y="138988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ajawal"/>
              </a:rPr>
              <a:t>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5074920"/>
            <a:ext cx="9509760" cy="68580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5276088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0F7353"/>
                </a:solidFill>
                <a:latin typeface="Tajawal"/>
              </a:rPr>
              <a:t>هذا هو التمايز: لا يبدأ من “دليل الحسابات”، بل من السؤال الذي يهم المستخدم: هل أنا أربح؟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ما الذي يفعله دفتر؟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ميزات قليلة، لكنها مرتبطة بألم واضح.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08760"/>
            <a:ext cx="4709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673351"/>
            <a:ext cx="4343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فواتير بسيطة + PDF + مشاركة واتساب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08760"/>
            <a:ext cx="4709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73351"/>
            <a:ext cx="4343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مبيعات ومصاريف ومشتريات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34639"/>
            <a:ext cx="4709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99232"/>
            <a:ext cx="4343400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تتبع “لي عند الزباين” والمدفوع جزئيًا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834639"/>
            <a:ext cx="4709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999232"/>
            <a:ext cx="4343400" cy="6583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مواد خام ومخزون وتنبيهات منخفضة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160520"/>
            <a:ext cx="4709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25112"/>
            <a:ext cx="4343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وصفات لحساب تكلفة المنتج وربحه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160520"/>
            <a:ext cx="47091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325112"/>
            <a:ext cx="4343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تقارير شهرية: دخل، مصروف، مشتريات، صافي ربح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التموضع التنافسي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نحن لا ننافس على كثرة الميزات، بل على الملاءمة.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371600"/>
            <a:ext cx="320040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17904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Tajawal"/>
              </a:rPr>
              <a:t>البديل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20040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17904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Tajawal"/>
              </a:rPr>
              <a:t>ما يقدمه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371600"/>
            <a:ext cx="320040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517904"/>
            <a:ext cx="28346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Tajawal"/>
              </a:rPr>
              <a:t>الفجوة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965960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2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ورقة وقلم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965960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130552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مألوف ومجاني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965960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130552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لا رؤية، لا تذكير، لا تقارير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715768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880360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Excel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2715768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880360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مرن لكنه يدوي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715768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880360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معادلات تنكسر وتحديث متعب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465576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630168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قيود/Wafeq/دفترة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465576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630168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محاسبة للشركات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465576"/>
            <a:ext cx="320040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3630168"/>
            <a:ext cx="28346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ثقيلة ولغتها ليست لغة المستخدم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215383"/>
            <a:ext cx="3200400" cy="59436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379975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دفتر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4215383"/>
            <a:ext cx="3200400" cy="59436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4379975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حسابات يومية بسيطة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4215383"/>
            <a:ext cx="3200400" cy="59436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379975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يمتلك لحظة “اعرف ربحك”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حجم الفرصة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سوق متخصص وواضح، وليس محاولة لخدمة كل الشركات.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25603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٢.٢٥م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305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مستقلون مسجلون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0487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مذكور في مستندات المشروع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1417320"/>
            <a:ext cx="25603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160020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٢٠٠ ألف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1305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SAM تقريبي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40487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نشاط منزلي/فردي نشط رقمياً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25603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00200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١٥ ألف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305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SOM خلال ٣ سنوات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0487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مستخدم نشط مستهدف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1417320"/>
            <a:ext cx="22402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600200"/>
            <a:ext cx="1874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٣٨ ر/ش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130552"/>
            <a:ext cx="1874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ARPU مستهدف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404872"/>
            <a:ext cx="1874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من 29–49 ريال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977639"/>
            <a:ext cx="104241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142231"/>
            <a:ext cx="10058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قراءة السوق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544568"/>
            <a:ext cx="10058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SAM المباشر ≈ 200,000 × 38 ريال × 12 = 91.2 مليون ريال سنويًا.
SOM عند 15,000 مستخدم نشط ≈ 6.84 مليون ريال ARR. هذه أرقام تشغيلية تحتاج تحقق ميداني، لكنها كافية لتبرير Pilot وPMF.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نموذج الأعمال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Freemium منخفض السعر، مع مسار B2B2C.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5146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6479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مجاني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214884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حتى 10 فواتير
يدخل المستخدم بدون خوف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0F7353"/>
                </a:solidFill>
                <a:latin typeface="Tajawal"/>
              </a:rPr>
              <a:t>٠ ر/ش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1600200"/>
            <a:ext cx="25146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176479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أساسي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167128"/>
            <a:ext cx="214884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50 فاتورة + تقارير
للأعمال المنزلية الأولى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33172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0F7353"/>
                </a:solidFill>
                <a:latin typeface="Tajawal"/>
              </a:rPr>
              <a:t>٢٩ ر/ش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37376" y="1600200"/>
            <a:ext cx="25146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176479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احترافي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167128"/>
            <a:ext cx="214884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غير محدود + كل الميزات
للنشاط النامي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33172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0F7353"/>
                </a:solidFill>
                <a:latin typeface="Tajawal"/>
              </a:rPr>
              <a:t>٤٩ ر/ش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1600200"/>
            <a:ext cx="25146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4" y="176479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B2B2C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2167128"/>
            <a:ext cx="2148840" cy="2542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بنك التنمية وشركاء التمكين
رسوم لكل مستخدم نشط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233172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0F7353"/>
                </a:solidFill>
                <a:latin typeface="Tajawal"/>
              </a:rPr>
              <a:t>TBD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نموذج القيمة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قيمة دفتر ليست “برنامجًا” فقط، بل قرارات مالية أوضح.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2926080" cy="74980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25603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تحسين التسعير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417320"/>
            <a:ext cx="33832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1581912"/>
            <a:ext cx="30175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تكلفة المنتج تظهر قبل البيع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417320"/>
            <a:ext cx="40690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581912"/>
            <a:ext cx="37033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رفع هامش الربح أو إيقاف منتجات خاسرة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77440"/>
            <a:ext cx="2926080" cy="74980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42032"/>
            <a:ext cx="2560320" cy="448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تقليل الديون المنسية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2377440"/>
            <a:ext cx="33832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2542032"/>
            <a:ext cx="3017520" cy="448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قائمة “لي عند” وتذكير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2377440"/>
            <a:ext cx="40690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2542032"/>
            <a:ext cx="3703320" cy="448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استرداد مبالغ كانت تضيع بالنسيان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37560"/>
            <a:ext cx="2926080" cy="74980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02152"/>
            <a:ext cx="2560320" cy="448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توفير الوقت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3337560"/>
            <a:ext cx="33832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77640" y="3502152"/>
            <a:ext cx="3017520" cy="448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تسجيل وفاتورة وتقرير في مسار واحد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337560"/>
            <a:ext cx="40690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79" y="3502152"/>
            <a:ext cx="3703320" cy="448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وقت أقل في Excel والورق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97680"/>
            <a:ext cx="2926080" cy="74980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2"/>
            <a:ext cx="25603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جاهزية للتمويل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94760" y="4297680"/>
            <a:ext cx="33832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40" y="4462272"/>
            <a:ext cx="30175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سجل مبيعات ومصاريف قابل للعرض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297680"/>
            <a:ext cx="406908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4462272"/>
            <a:ext cx="370332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ثقة أكبر لدى الشريك أو الممول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486400"/>
            <a:ext cx="10149840" cy="50292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632704"/>
            <a:ext cx="9784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Tajawal"/>
              </a:rPr>
              <a:t>فرضية تقليل الديون المنسية 300–800 ريال شهريًا تحتاج تحقق ميداني قبل استخدامها كرقم مالي نهائي.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مسار بنك التنمية الاجتماعية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دفتر كأداة تمكين مالي، لا كبرنامج محاسبة فقط.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13</a:t>
            </a:r>
          </a:p>
        </p:txBody>
      </p:sp>
      <p:sp>
        <p:nvSpPr>
          <p:cNvPr id="10" name="Oval 9"/>
          <p:cNvSpPr/>
          <p:nvPr/>
        </p:nvSpPr>
        <p:spPr>
          <a:xfrm>
            <a:off x="10808208" y="152704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17320"/>
            <a:ext cx="9747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يرفع قدرة المستفيدين على معرفة الربح والتكلفة.</a:t>
            </a:r>
          </a:p>
        </p:txBody>
      </p:sp>
      <p:sp>
        <p:nvSpPr>
          <p:cNvPr id="12" name="Oval 11"/>
          <p:cNvSpPr/>
          <p:nvPr/>
        </p:nvSpPr>
        <p:spPr>
          <a:xfrm>
            <a:off x="10808208" y="2057400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47672"/>
            <a:ext cx="9747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يساعد المستفيد في بناء سجل مالي قبل التمويل أو بعده.</a:t>
            </a:r>
          </a:p>
        </p:txBody>
      </p:sp>
      <p:sp>
        <p:nvSpPr>
          <p:cNvPr id="14" name="Oval 13"/>
          <p:cNvSpPr/>
          <p:nvPr/>
        </p:nvSpPr>
        <p:spPr>
          <a:xfrm>
            <a:off x="10808208" y="2587752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78024"/>
            <a:ext cx="9747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يوفر بيانات مجمعة مجهولة عن صحة المشاريع وأنماط النشاط.</a:t>
            </a:r>
          </a:p>
        </p:txBody>
      </p:sp>
      <p:sp>
        <p:nvSpPr>
          <p:cNvPr id="16" name="Oval 15"/>
          <p:cNvSpPr/>
          <p:nvPr/>
        </p:nvSpPr>
        <p:spPr>
          <a:xfrm>
            <a:off x="10808208" y="3118104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08376"/>
            <a:ext cx="97475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700" b="0">
                <a:solidFill>
                  <a:srgbClr val="101914"/>
                </a:solidFill>
                <a:latin typeface="Tajawal"/>
              </a:rPr>
              <a:t>يدعم قصة نجاح رقمية متوافقة مع تمكين الأعمال الصغيرة والمنزلية.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97680"/>
            <a:ext cx="10241280" cy="1097280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62272"/>
            <a:ext cx="98755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الطلب المقترح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64608"/>
            <a:ext cx="9875519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Pilot لمدة 3 أشهر مع 50–100 نشاط منزلي/فردي، ودعم مباشر، وقياس استخدام أسبوعي ورضا ومعرفة الربح.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تصميم Pilot لبنك التنمية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نبدأ صغيرًا، نقيس الأثر، ثم نقرر التوسع.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08760"/>
            <a:ext cx="33375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73351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البنك يقدّم</a:t>
            </a:r>
          </a:p>
        </p:txBody>
      </p:sp>
      <p:sp>
        <p:nvSpPr>
          <p:cNvPr id="12" name="Oval 11"/>
          <p:cNvSpPr/>
          <p:nvPr/>
        </p:nvSpPr>
        <p:spPr>
          <a:xfrm>
            <a:off x="3767328" y="235000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40280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وصول لـ 50–100 مستفيد</a:t>
            </a:r>
          </a:p>
        </p:txBody>
      </p:sp>
      <p:sp>
        <p:nvSpPr>
          <p:cNvPr id="14" name="Oval 13"/>
          <p:cNvSpPr/>
          <p:nvPr/>
        </p:nvSpPr>
        <p:spPr>
          <a:xfrm>
            <a:off x="3767328" y="2825496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715768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قناة تواصل أو ترشيح</a:t>
            </a:r>
          </a:p>
        </p:txBody>
      </p:sp>
      <p:sp>
        <p:nvSpPr>
          <p:cNvPr id="16" name="Oval 15"/>
          <p:cNvSpPr/>
          <p:nvPr/>
        </p:nvSpPr>
        <p:spPr>
          <a:xfrm>
            <a:off x="3767328" y="3300984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191256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ملاحظات عن احتياجات المستفيدين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508760"/>
            <a:ext cx="33375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1673351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دفتر يقدّم</a:t>
            </a:r>
          </a:p>
        </p:txBody>
      </p:sp>
      <p:sp>
        <p:nvSpPr>
          <p:cNvPr id="20" name="Oval 19"/>
          <p:cNvSpPr/>
          <p:nvPr/>
        </p:nvSpPr>
        <p:spPr>
          <a:xfrm>
            <a:off x="7516368" y="235000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240280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استخدام مجاني في فترة التجربة</a:t>
            </a:r>
          </a:p>
        </p:txBody>
      </p:sp>
      <p:sp>
        <p:nvSpPr>
          <p:cNvPr id="22" name="Oval 21"/>
          <p:cNvSpPr/>
          <p:nvPr/>
        </p:nvSpPr>
        <p:spPr>
          <a:xfrm>
            <a:off x="7516368" y="2825496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715768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دعم وتدريب خفيف</a:t>
            </a:r>
          </a:p>
        </p:txBody>
      </p:sp>
      <p:sp>
        <p:nvSpPr>
          <p:cNvPr id="24" name="Oval 23"/>
          <p:cNvSpPr/>
          <p:nvPr/>
        </p:nvSpPr>
        <p:spPr>
          <a:xfrm>
            <a:off x="7516368" y="3300984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191256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تقرير شهري مجمع مجهول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508760"/>
            <a:ext cx="33375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1673351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ما نقيسه</a:t>
            </a:r>
          </a:p>
        </p:txBody>
      </p:sp>
      <p:sp>
        <p:nvSpPr>
          <p:cNvPr id="28" name="Oval 27"/>
          <p:cNvSpPr/>
          <p:nvPr/>
        </p:nvSpPr>
        <p:spPr>
          <a:xfrm>
            <a:off x="11265408" y="235000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240280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Activation: أول فاتورة</a:t>
            </a:r>
          </a:p>
        </p:txBody>
      </p:sp>
      <p:sp>
        <p:nvSpPr>
          <p:cNvPr id="30" name="Oval 29"/>
          <p:cNvSpPr/>
          <p:nvPr/>
        </p:nvSpPr>
        <p:spPr>
          <a:xfrm>
            <a:off x="11265408" y="2825496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715768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WAU وD7 Retention</a:t>
            </a:r>
          </a:p>
        </p:txBody>
      </p:sp>
      <p:sp>
        <p:nvSpPr>
          <p:cNvPr id="32" name="Oval 31"/>
          <p:cNvSpPr/>
          <p:nvPr/>
        </p:nvSpPr>
        <p:spPr>
          <a:xfrm>
            <a:off x="11265408" y="3300984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191256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هل عرفت المستخدمة ربحها؟</a:t>
            </a:r>
          </a:p>
        </p:txBody>
      </p:sp>
      <p:sp>
        <p:nvSpPr>
          <p:cNvPr id="34" name="Oval 33"/>
          <p:cNvSpPr/>
          <p:nvPr/>
        </p:nvSpPr>
        <p:spPr>
          <a:xfrm>
            <a:off x="11265408" y="3776472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666744"/>
            <a:ext cx="256946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00" b="0">
                <a:solidFill>
                  <a:srgbClr val="101914"/>
                </a:solidFill>
                <a:latin typeface="Tajawal"/>
              </a:rPr>
              <a:t>رضا/NPS مبسط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مسار المستثمرين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قضية استثمارية مبكرة: سوق ضيق، ألم حاد، وتوزيع محتمل.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15</a:t>
            </a:r>
          </a:p>
        </p:txBody>
      </p:sp>
      <p:sp>
        <p:nvSpPr>
          <p:cNvPr id="10" name="Oval 9"/>
          <p:cNvSpPr/>
          <p:nvPr/>
        </p:nvSpPr>
        <p:spPr>
          <a:xfrm>
            <a:off x="10899648" y="1435607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25880"/>
            <a:ext cx="98389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50" b="0">
                <a:solidFill>
                  <a:srgbClr val="101914"/>
                </a:solidFill>
                <a:latin typeface="Tajawal"/>
              </a:rPr>
              <a:t>Wedge واضح: الأعمال المنزلية والفردية التي لا تخدمها المحاسبة التقليدية.</a:t>
            </a:r>
          </a:p>
        </p:txBody>
      </p:sp>
      <p:sp>
        <p:nvSpPr>
          <p:cNvPr id="12" name="Oval 11"/>
          <p:cNvSpPr/>
          <p:nvPr/>
        </p:nvSpPr>
        <p:spPr>
          <a:xfrm>
            <a:off x="10899648" y="1965960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856231"/>
            <a:ext cx="98389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50" b="0">
                <a:solidFill>
                  <a:srgbClr val="101914"/>
                </a:solidFill>
                <a:latin typeface="Tajawal"/>
              </a:rPr>
              <a:t>قيمة فورية: “اعرف ربحك في 10 ثواني” ترتبط بالاحتفاظ لا بالاستخدام السطحي.</a:t>
            </a:r>
          </a:p>
        </p:txBody>
      </p:sp>
      <p:sp>
        <p:nvSpPr>
          <p:cNvPr id="14" name="Oval 13"/>
          <p:cNvSpPr/>
          <p:nvPr/>
        </p:nvSpPr>
        <p:spPr>
          <a:xfrm>
            <a:off x="10899648" y="2496312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98389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50" b="0">
                <a:solidFill>
                  <a:srgbClr val="101914"/>
                </a:solidFill>
                <a:latin typeface="Tajawal"/>
              </a:rPr>
              <a:t>نموذج SaaS منخفض السعر مع CAC قابل للانخفاض عبر الشراكات والمجتمع.</a:t>
            </a:r>
          </a:p>
        </p:txBody>
      </p:sp>
      <p:sp>
        <p:nvSpPr>
          <p:cNvPr id="16" name="Oval 15"/>
          <p:cNvSpPr/>
          <p:nvPr/>
        </p:nvSpPr>
        <p:spPr>
          <a:xfrm>
            <a:off x="10899648" y="3026664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16936"/>
            <a:ext cx="983894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50" b="0">
                <a:solidFill>
                  <a:srgbClr val="101914"/>
                </a:solidFill>
                <a:latin typeface="Tajawal"/>
              </a:rPr>
              <a:t>موات دفاعي محتمل: شراكات تمكين + فهم محلي + بيانات تكلفة وتسعير خاصة بالشريحة.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49834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36592"/>
            <a:ext cx="4617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هدف 12 شهر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38928"/>
            <a:ext cx="4617720" cy="347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25,000 ريال MRR، مع 400 اشتراك مدفوع في Q2 2027 حسب BRD.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572000"/>
            <a:ext cx="4983480" cy="10515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736592"/>
            <a:ext cx="4617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B45309"/>
                </a:solidFill>
                <a:latin typeface="Tajawal"/>
              </a:rPr>
              <a:t>أهم فرضية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138928"/>
            <a:ext cx="4617720" cy="3474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هل تدفع الشريحة 29–49 ريال شهريًا بعد رؤية قيمة الربح والتذكير؟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ما الذي يثبت PMF؟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الأرقام التي نراقبها قبل توسيع الإنفاق.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≥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3055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فاتورة أولى خلال 24 ساعة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1732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60020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≥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13055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D7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هل عاد المستخدم بعد أول أسبوع؟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417320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60020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≥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3055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D30 Retention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048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هل بقيت عادة شهرية؟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91839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7472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050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Free → Paid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7939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هل القيمة تستحق الدفع؟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291839"/>
            <a:ext cx="3246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474720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200" b="1">
                <a:solidFill>
                  <a:srgbClr val="0F7353"/>
                </a:solidFill>
                <a:latin typeface="Tajawal"/>
              </a:rPr>
              <a:t>≥ 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00507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50" b="1">
                <a:solidFill>
                  <a:srgbClr val="101914"/>
                </a:solidFill>
                <a:latin typeface="Tajawal"/>
              </a:rPr>
              <a:t>NPS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279392"/>
            <a:ext cx="2880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19" b="0">
                <a:solidFill>
                  <a:srgbClr val="6B7280"/>
                </a:solidFill>
                <a:latin typeface="Tajawal"/>
              </a:rPr>
              <a:t>هل تحيلها لصاحبة؟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مسار المبيعات والشركاء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لماذا يوصي شريك بدفتر؟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463040"/>
            <a:ext cx="338328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2763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للمستخدم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3017520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قيمة مباشرة: فاتورة، ربح، ومين ما دفع.
لا يحتاج تدريب محاسبي.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63040"/>
            <a:ext cx="338328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2763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للشريك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29968"/>
            <a:ext cx="3017520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منتج يرفع جودة العميل ويخلق تفاعلًا مستمرًا.
محتوى تعليمي حول التسعير والربح.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63040"/>
            <a:ext cx="338328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627632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لقناة التوزيع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029968"/>
            <a:ext cx="3017520" cy="272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الإحالة سهلة لأن الوعود مفهومة: اعرف ربحك، ولا تنسَ مستحقاتك.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" y="5285232"/>
            <a:ext cx="9875520" cy="475488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431536"/>
            <a:ext cx="9509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F7353"/>
                </a:solidFill>
                <a:latin typeface="Tajawal"/>
              </a:rPr>
              <a:t>شراكات مرشحة: مجتمعات الأسر المنتجة، مؤثرون تعليميون، مزودو POS/دفع، منصات بيع منزلية، برامج تمكين.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استراتيجية الوصول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ابدأ من beachhead، ثم وسّع.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234440"/>
            <a:ext cx="1005840" cy="56692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399032"/>
            <a:ext cx="685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Tajawal"/>
              </a:rPr>
              <a:t>P0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1234440"/>
            <a:ext cx="29260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1399032"/>
            <a:ext cx="256032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Pilot بنك التنمية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234440"/>
            <a:ext cx="63093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399032"/>
            <a:ext cx="594360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50 مستخدمة أولى + أثر قابل للقياس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103120"/>
            <a:ext cx="1005840" cy="56692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267712"/>
            <a:ext cx="685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Tajawal"/>
              </a:rPr>
              <a:t>P0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65960" y="2103120"/>
            <a:ext cx="29260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2267712"/>
            <a:ext cx="2560320" cy="265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Word of Mouth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103120"/>
            <a:ext cx="63093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267712"/>
            <a:ext cx="5943600" cy="265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فاتورة PDF تخلق سؤال: من أين هذه؟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971800"/>
            <a:ext cx="1005840" cy="56692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136392"/>
            <a:ext cx="685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Tajawal"/>
              </a:rPr>
              <a:t>P1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971800"/>
            <a:ext cx="29260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3136392"/>
            <a:ext cx="2560320" cy="265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مؤثرات ومجتمعات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2971800"/>
            <a:ext cx="63093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3136392"/>
            <a:ext cx="5943600" cy="265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محتوى: كيف أحسب ربحي؟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840479"/>
            <a:ext cx="1005840" cy="56692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4005071"/>
            <a:ext cx="685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Tajawal"/>
              </a:rPr>
              <a:t>P1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65960" y="3840479"/>
            <a:ext cx="29260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4005071"/>
            <a:ext cx="256032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SEO عربي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3840479"/>
            <a:ext cx="63093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4005071"/>
            <a:ext cx="594360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نوايا بحث حول التسعير والتكلفة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709160"/>
            <a:ext cx="1005840" cy="566928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873752"/>
            <a:ext cx="6858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Tajawal"/>
              </a:rPr>
              <a:t>P2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65960" y="4709160"/>
            <a:ext cx="29260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40" y="4873752"/>
            <a:ext cx="256032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تكاملات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4709160"/>
            <a:ext cx="630936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4873752"/>
            <a:ext cx="594360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سلة/زد/دفع عند ثبوت الحاجة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خارطة الطريق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نمنع التضخم: نبني ما يخدم لحظة الربح أولًا.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324612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93392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الآن: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95728"/>
            <a:ext cx="2880360" cy="2039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فواتير، مصاريف، وصفات، مخزون، تقارير، PDF وواتساب.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28800"/>
            <a:ext cx="324612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993392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بعد PMF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95728"/>
            <a:ext cx="2880360" cy="2039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Paywall، تنبيهات، استيراد Excel، onboarding تفاعلي، شراكات B2B2C.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246120" cy="2743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1993392"/>
            <a:ext cx="2880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350" b="1">
                <a:solidFill>
                  <a:srgbClr val="0F7353"/>
                </a:solidFill>
                <a:latin typeface="Tajawal"/>
              </a:rPr>
              <a:t>لاحقًا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395728"/>
            <a:ext cx="2880360" cy="2039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مدفوعات عبر مزود مرخص، تكاملات، توافق فاتورة عبر شريك معتمد عند الحاجة.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49240"/>
            <a:ext cx="10332720" cy="50292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495544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DC2626"/>
                </a:solidFill>
                <a:latin typeface="Tajawal"/>
              </a:rPr>
              <a:t>خط أحمر: لا ندّعي اعتماد ZATCA أو دقة IFRS/GAAP قبل تحقق رسمي. المنتج يخدم الحسابات اليومية أولًا.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المخاطر وكيف نتحكم بها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أفضل عرض لا يخفي الافتراضات.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3657600" cy="5943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490472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استعداد الدفع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25880"/>
            <a:ext cx="658368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490472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مقابلات + paywall بعد PMF + اختبار 29/49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76272"/>
            <a:ext cx="3657600" cy="5943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340864"/>
            <a:ext cx="32918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تعقيد الإعداد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176272"/>
            <a:ext cx="658368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340864"/>
            <a:ext cx="621792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White glove لأول 50 + وصفات جاهزة + onboarding بسيط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26664"/>
            <a:ext cx="3657600" cy="5943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191256"/>
            <a:ext cx="329184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Churn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026664"/>
            <a:ext cx="658368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191256"/>
            <a:ext cx="6217920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ربح أول أسبوع + تذكير مديونين + تقرير شهري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77056"/>
            <a:ext cx="3657600" cy="5943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041648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امتثال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877056"/>
            <a:ext cx="658368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041648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PDPL، وعدم ادعاء ZATCA قبل تحقق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727448"/>
            <a:ext cx="3657600" cy="594360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توسع زائد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727448"/>
            <a:ext cx="658368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892040"/>
            <a:ext cx="6217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Beachhead واضح قبل المستقلين والتكاملات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Business Case مختصر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قيمة دفتر حسب الجمهور.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2194560" cy="713232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8191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بنك التنمية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417320"/>
            <a:ext cx="35661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8191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تمكين مالي وقياس أثر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417320"/>
            <a:ext cx="45262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581912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Pilot 50–100 مستفيد + بيانات مجمعة مجهولة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77440"/>
            <a:ext cx="2194560" cy="713232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542032"/>
            <a:ext cx="18288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المستثمر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377440"/>
            <a:ext cx="35661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542032"/>
            <a:ext cx="32004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SaaS vertical wedge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377440"/>
            <a:ext cx="45262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542032"/>
            <a:ext cx="416052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إثبات retention والتحويل قبل توسيع CAC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37560"/>
            <a:ext cx="2194560" cy="713232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02152"/>
            <a:ext cx="18288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الشريك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40" y="3337560"/>
            <a:ext cx="35661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502152"/>
            <a:ext cx="320040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منتج إحالة واضح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3337560"/>
            <a:ext cx="45262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502152"/>
            <a:ext cx="416052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محتوى + إحالات + قيمة مباشرة للمستخدم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97680"/>
            <a:ext cx="2194560" cy="713232"/>
          </a:xfrm>
          <a:prstGeom prst="roundRect">
            <a:avLst/>
          </a:prstGeom>
          <a:solidFill>
            <a:srgbClr val="EEFDF6"/>
          </a:solidFill>
          <a:ln w="101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المستخدم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63240" y="4297680"/>
            <a:ext cx="35661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44622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وضوح الربح والتحصيل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4297680"/>
            <a:ext cx="45262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462272"/>
            <a:ext cx="4160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080" b="0">
                <a:solidFill>
                  <a:srgbClr val="6B7280"/>
                </a:solidFill>
                <a:latin typeface="Tajawal"/>
              </a:rPr>
              <a:t>سعر منخفض مقابل تقليل نسيان/وقت/تسعير خاطئ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502920" cy="5029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438912"/>
            <a:ext cx="5897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300" b="1">
                <a:solidFill>
                  <a:srgbClr val="101914"/>
                </a:solidFill>
                <a:latin typeface="Tajawal"/>
              </a:rPr>
              <a:t>الطلب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987552"/>
            <a:ext cx="5897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250" b="0">
                <a:solidFill>
                  <a:srgbClr val="6B7280"/>
                </a:solidFill>
                <a:latin typeface="Tajawal"/>
              </a:rPr>
              <a:t>نقترح قرارًا واحدًا: تجربة مضبوطة، لا إطلاق واسع.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181344"/>
            <a:ext cx="274320" cy="27432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19963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208776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08776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850" b="0">
                <a:solidFill>
                  <a:srgbClr val="6B7280"/>
                </a:solidFill>
                <a:latin typeface="Tajawal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2500" b="1">
                <a:solidFill>
                  <a:srgbClr val="0F7353"/>
                </a:solidFill>
                <a:latin typeface="Tajawal"/>
              </a:rPr>
              <a:t>نجرّب دفتر مع أول 50 نشاطًا منزليًا/فرديًا، ونقيس: هل عرفوا ربحهم؟ هل عادوا خلال أسبوع؟ وهل قبلوا الدفع؟</a:t>
            </a:r>
          </a:p>
        </p:txBody>
      </p:sp>
      <p:sp>
        <p:nvSpPr>
          <p:cNvPr id="11" name="Oval 10"/>
          <p:cNvSpPr/>
          <p:nvPr/>
        </p:nvSpPr>
        <p:spPr>
          <a:xfrm>
            <a:off x="10533888" y="335584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92903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مدة مقترحة: 8–12 أسبوعًا.</a:t>
            </a:r>
          </a:p>
        </p:txBody>
      </p:sp>
      <p:sp>
        <p:nvSpPr>
          <p:cNvPr id="13" name="Oval 12"/>
          <p:cNvSpPr/>
          <p:nvPr/>
        </p:nvSpPr>
        <p:spPr>
          <a:xfrm>
            <a:off x="10533888" y="385876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39"/>
            <a:ext cx="92903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مخرجات: تقرير استخدام ورضا وأثر، وتحسين المنتج قبل التوسع.</a:t>
            </a:r>
          </a:p>
        </p:txBody>
      </p:sp>
      <p:sp>
        <p:nvSpPr>
          <p:cNvPr id="15" name="Oval 14"/>
          <p:cNvSpPr/>
          <p:nvPr/>
        </p:nvSpPr>
        <p:spPr>
          <a:xfrm>
            <a:off x="10533888" y="4361688"/>
            <a:ext cx="73152" cy="73152"/>
          </a:xfrm>
          <a:prstGeom prst="ellipse">
            <a:avLst/>
          </a:prstGeom>
          <a:solidFill>
            <a:srgbClr val="0F7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59"/>
            <a:ext cx="92903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idi val="1"/>
            </a:pPr>
            <a:r>
              <a:rPr sz="1600" b="0">
                <a:solidFill>
                  <a:srgbClr val="101914"/>
                </a:solidFill>
                <a:latin typeface="Tajawal"/>
              </a:rPr>
              <a:t>قرار نهاية التجربة: شراكة أوسع، جولة تمويل، أو تركيز منتج جديد.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3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32120" y="1005840"/>
            <a:ext cx="1005840" cy="1005840"/>
          </a:xfrm>
          <a:prstGeom prst="roundRect">
            <a:avLst/>
          </a:prstGeom>
          <a:solidFill>
            <a:srgbClr val="0F7353"/>
          </a:solidFill>
          <a:ln w="10160">
            <a:solidFill>
              <a:srgbClr val="0F7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32120" y="102412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Tajawal"/>
              </a:rPr>
              <a:t>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Tajawal"/>
              </a:rPr>
              <a:t>دفتر — حساباتك، بلغتك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47472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1FAE5"/>
                </a:solidFill>
                <a:latin typeface="Tajawal"/>
              </a:rPr>
              <a:t>برنامج محاسبي بسيط للأعمال الصغيرة جدًا، والفردية، والمنزلية.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897880"/>
            <a:ext cx="7680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1FAE5"/>
                </a:solidFill>
                <a:latin typeface="Tajawal"/>
              </a:rPr>
              <a:t>صنع في السعودية، للسعودية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دفتر — Business Case Deck</dc:title>
  <dc:subject>عرض شامل لبنك التنمية والمستثمرين والشركاء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