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88920" cy="5166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" y="1124712"/>
            <a:ext cx="2459736" cy="64008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71016"/>
            <a:ext cx="2240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01914"/>
                </a:solidFill>
                <a:latin typeface="Tajawal"/>
              </a:rPr>
              <a:t>الرئيسية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947672"/>
            <a:ext cx="2386584" cy="111556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14883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7353"/>
                </a:solidFill>
                <a:latin typeface="Tajawal"/>
              </a:rPr>
              <a:t>صافي الربح
١٬٨٤٠ ر.س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35584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47472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المبيعات     ٣٬٥٠٠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95020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406908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المصاريف       ٩٦٠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54456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466344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لي عند         ٣٢٠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513892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525780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مخزون منخفض   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0" y="566928"/>
            <a:ext cx="658368" cy="65836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5852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371600"/>
            <a:ext cx="37490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4200" b="1">
                <a:solidFill>
                  <a:srgbClr val="FFFFFF"/>
                </a:solidFill>
                <a:latin typeface="Tajawal"/>
              </a:rPr>
              <a:t>دفتر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423160"/>
            <a:ext cx="37947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800" b="1">
                <a:solidFill>
                  <a:srgbClr val="FFFFFF"/>
                </a:solidFill>
                <a:latin typeface="Tajawal"/>
              </a:rPr>
              <a:t>عرض استثماري مفصل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977639"/>
            <a:ext cx="3657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D1FAE5"/>
                </a:solidFill>
                <a:latin typeface="Tajawal"/>
              </a:rPr>
              <a:t>Vertical SaaS للأعمال الصغيرة جدًا والفردية والمنزلية، يبدأ من ألم الربح الحقيقي.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943600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0">
                <a:solidFill>
                  <a:srgbClr val="D1FAE5"/>
                </a:solidFill>
                <a:latin typeface="Tajawal"/>
              </a:rPr>
              <a:t>Investor narrative · PMF 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Thesis الاستثمار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سوق ضيق بما يكفي للفوز، وكبير بما يكفي لبناء شركة.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1009376" y="152704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دفتر لا يحاول بناء QuickBooks عربي؛ يبني wedge محلي حول الربح والتكلفة والتحصيل.</a:t>
            </a:r>
          </a:p>
        </p:txBody>
      </p:sp>
      <p:sp>
        <p:nvSpPr>
          <p:cNvPr id="12" name="Oval 11"/>
          <p:cNvSpPr/>
          <p:nvPr/>
        </p:nvSpPr>
        <p:spPr>
          <a:xfrm>
            <a:off x="11009376" y="2057400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47672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الشريحة: أعمال صغيرة جدًا وفردية ومنزلية لا تخدمها منتجات المحاسبة التقليدية.</a:t>
            </a:r>
          </a:p>
        </p:txBody>
      </p:sp>
      <p:sp>
        <p:nvSpPr>
          <p:cNvPr id="14" name="Oval 13"/>
          <p:cNvSpPr/>
          <p:nvPr/>
        </p:nvSpPr>
        <p:spPr>
          <a:xfrm>
            <a:off x="11009376" y="2587752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78024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نموذج SaaS منخفض السعر، مع إمكانية CAC منخفض عبر المجتمع والشراكات.</a:t>
            </a:r>
          </a:p>
        </p:txBody>
      </p:sp>
      <p:sp>
        <p:nvSpPr>
          <p:cNvPr id="16" name="Oval 15"/>
          <p:cNvSpPr/>
          <p:nvPr/>
        </p:nvSpPr>
        <p:spPr>
          <a:xfrm>
            <a:off x="11009376" y="3118104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08376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الرهان: retention من لحظة قيمة متكررة — تقرير الربح الشهري و“لي عند الزباين”.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المشكلة والسوق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المستخدم الحالي لا يبحث عن محاسبة، بل عن طمأنينة مالية.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333756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56362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Pain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947672"/>
            <a:ext cx="3008376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لا يعرف الربح الحقيقي، ينسى الديون، ويسعر بدون تكلفة دقيقة.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33756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6362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Current alternatives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947672"/>
            <a:ext cx="3008376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ورقة وقلم، واتساب، Excel، أو برامج محاسبة ثقيلة.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33756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56362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Opening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47672"/>
            <a:ext cx="3008376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منتج mobile-first، عربي، بسيط، يبدأ من الوصفة والربح.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المنتج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دفتر يملك لحظة قيمة واضحة.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051560"/>
            <a:ext cx="2788920" cy="5166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1832" y="1216151"/>
            <a:ext cx="2459736" cy="64008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362456"/>
            <a:ext cx="2240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01914"/>
                </a:solidFill>
                <a:latin typeface="Tajawal"/>
              </a:rPr>
              <a:t>الرئيسية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" y="2039112"/>
            <a:ext cx="2386584" cy="111556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21991"/>
            <a:ext cx="214883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7353"/>
                </a:solidFill>
                <a:latin typeface="Tajawal"/>
              </a:rPr>
              <a:t>صافي الربح
١٬٨٤٠ ر.س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" y="344728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356616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المبيعات     ٣٬٥٠٠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" y="404164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16052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المصاريف       ٩٦٠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" y="463600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475488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لي عند         ٣٢٠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" y="523036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" y="534924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مخزون منخفض   ٣</a:t>
            </a:r>
          </a:p>
        </p:txBody>
      </p:sp>
      <p:sp>
        <p:nvSpPr>
          <p:cNvPr id="23" name="Oval 22"/>
          <p:cNvSpPr/>
          <p:nvPr/>
        </p:nvSpPr>
        <p:spPr>
          <a:xfrm>
            <a:off x="11009376" y="161848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508760"/>
            <a:ext cx="6291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أول فاتورة أو مصروف خلال دقائق.</a:t>
            </a:r>
          </a:p>
        </p:txBody>
      </p:sp>
      <p:sp>
        <p:nvSpPr>
          <p:cNvPr id="25" name="Oval 24"/>
          <p:cNvSpPr/>
          <p:nvPr/>
        </p:nvSpPr>
        <p:spPr>
          <a:xfrm>
            <a:off x="11009376" y="2185416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075688"/>
            <a:ext cx="6291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تكلفة المنتج وسعره من الوصفة.</a:t>
            </a:r>
          </a:p>
        </p:txBody>
      </p:sp>
      <p:sp>
        <p:nvSpPr>
          <p:cNvPr id="27" name="Oval 26"/>
          <p:cNvSpPr/>
          <p:nvPr/>
        </p:nvSpPr>
        <p:spPr>
          <a:xfrm>
            <a:off x="11009376" y="2752344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642616"/>
            <a:ext cx="6291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صافي الربح الشهري في رقم واحد.</a:t>
            </a:r>
          </a:p>
        </p:txBody>
      </p:sp>
      <p:sp>
        <p:nvSpPr>
          <p:cNvPr id="29" name="Oval 28"/>
          <p:cNvSpPr/>
          <p:nvPr/>
        </p:nvSpPr>
        <p:spPr>
          <a:xfrm>
            <a:off x="11009376" y="3319272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209544"/>
            <a:ext cx="6291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التحصيل: مين دفع ومين باقي؟</a:t>
            </a:r>
          </a:p>
        </p:txBody>
      </p:sp>
      <p:sp>
        <p:nvSpPr>
          <p:cNvPr id="31" name="Oval 30"/>
          <p:cNvSpPr/>
          <p:nvPr/>
        </p:nvSpPr>
        <p:spPr>
          <a:xfrm>
            <a:off x="11009376" y="3886200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776472"/>
            <a:ext cx="6291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لغة المستخدم لا لغة المحاسب.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حجم السوق التشغيلي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الأرقام هنا لتوجيه PMF، لا لتجميل القصة.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25603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581912"/>
            <a:ext cx="22311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٢.٢٥م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03120"/>
            <a:ext cx="22311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مستقلون مسجلون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368296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مذكور في مستندات المشروع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1417320"/>
            <a:ext cx="25603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1581912"/>
            <a:ext cx="22311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٢٠٠ ألف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2103120"/>
            <a:ext cx="22311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SAM مباشر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2368296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نشط رقميًا: أعمال منزلية/فردية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25603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581912"/>
            <a:ext cx="22311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٩١.٢م 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103120"/>
            <a:ext cx="22311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SAM سنوي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368296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200k × 38 × 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417320"/>
            <a:ext cx="224028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1581912"/>
            <a:ext cx="19110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٦.٨٤م 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2103120"/>
            <a:ext cx="19110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SOM ARR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368296"/>
            <a:ext cx="19110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15k × 38 × 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977639"/>
            <a:ext cx="10424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123944"/>
            <a:ext cx="10094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ما نحتاج إثباته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507992"/>
            <a:ext cx="10094976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ليست القضية “هل السوق موجود؟” بل: هل تتحول لحظة الربح إلى عادة أسبوعية ودفع شهري؟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نموذج الإيراد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سعر منخفض يتناسب مع حساسية الشريحة.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2514600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79222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76272"/>
            <a:ext cx="218541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10 فواتير/شهر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317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0F7353"/>
                </a:solidFill>
                <a:latin typeface="Tajawal"/>
              </a:rPr>
              <a:t>٠ ر/ش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1645920"/>
            <a:ext cx="2514600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179222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Basic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76272"/>
            <a:ext cx="218541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50 فاتورة + تقارير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23317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0F7353"/>
                </a:solidFill>
                <a:latin typeface="Tajawal"/>
              </a:rPr>
              <a:t>٢٩ ر/ش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1645920"/>
            <a:ext cx="2514600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179222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176272"/>
            <a:ext cx="218541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غير محدود + ميزات كاملة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23317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0F7353"/>
                </a:solidFill>
                <a:latin typeface="Tajawal"/>
              </a:rPr>
              <a:t>٤٩ ر/ش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1645920"/>
            <a:ext cx="2514600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179222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B2B2C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8541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شراكات تمكين وتوزيع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3317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0F7353"/>
                </a:solidFill>
                <a:latin typeface="Tajawal"/>
              </a:rPr>
              <a:t>TBD ر/ش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Unit economics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قابل للتحسن فقط إذا نجح التوزيع العضوي والشراكات.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٣٨ ر/ش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ARPU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متوسط 29–49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&lt;٣٠ 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CAC عضوي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هدف BRD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٦٨٤ 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LTV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18 شهر × 38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91839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45643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&gt;10:1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977639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LTV:CAC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24281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عند تحقق CAC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291839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345643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&lt;شهر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977639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Payback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24281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فرضية تحتاج تحقق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GTM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من beachhead واحد إلى شبكة أوسع.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8</a:t>
            </a:r>
          </a:p>
        </p:txBody>
      </p:sp>
      <p:sp>
        <p:nvSpPr>
          <p:cNvPr id="10" name="Oval 9"/>
          <p:cNvSpPr/>
          <p:nvPr/>
        </p:nvSpPr>
        <p:spPr>
          <a:xfrm>
            <a:off x="10826496" y="148132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Beachhead: بائعات الطعام المنزلي في الرياض وجدة.</a:t>
            </a:r>
          </a:p>
        </p:txBody>
      </p:sp>
      <p:sp>
        <p:nvSpPr>
          <p:cNvPr id="12" name="Oval 11"/>
          <p:cNvSpPr/>
          <p:nvPr/>
        </p:nvSpPr>
        <p:spPr>
          <a:xfrm>
            <a:off x="10826496" y="202996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قنوات P0: بنك التنمية، word of mouth، إحالة من فاتورة PDF.</a:t>
            </a:r>
          </a:p>
        </p:txBody>
      </p:sp>
      <p:sp>
        <p:nvSpPr>
          <p:cNvPr id="14" name="Oval 13"/>
          <p:cNvSpPr/>
          <p:nvPr/>
        </p:nvSpPr>
        <p:spPr>
          <a:xfrm>
            <a:off x="10826496" y="25786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68880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قنوات P1: مؤثرات الأسر المنتجة، SEO عربي، مجتمعات واتساب.</a:t>
            </a:r>
          </a:p>
        </p:txBody>
      </p:sp>
      <p:sp>
        <p:nvSpPr>
          <p:cNvPr id="16" name="Oval 15"/>
          <p:cNvSpPr/>
          <p:nvPr/>
        </p:nvSpPr>
        <p:spPr>
          <a:xfrm>
            <a:off x="10826496" y="312724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القاعدة: لا توسع خارج الشريحة قبل إثبات activation وretention.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Moat المحتمل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الدفاع لا يأتي من الميزات وحدها.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5636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فهم محلي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47672"/>
            <a:ext cx="4471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لغة السوق، تدفقات واتساب، حساسية السعر.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173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5636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بيانات تكلفة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4471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وصفات ومواد وتسعير منتجات منزلية.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461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924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توزيع موثوق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776472"/>
            <a:ext cx="4471416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شراكات تمكين ومجتمعات.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2461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33924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منتج معتاد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776472"/>
            <a:ext cx="4471416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تقرير الربح والتحصيل يعيدان المستخدم.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مقاييس PMF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لا نرفع قبل ظهور هذه العلامات.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≥60%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فاتورة/24h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≥40%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D7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عودة أسبوع أول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≥25%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D30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عادة شهرية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91839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45643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15–20%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977639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Free→Paid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24281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تحويل مدفوع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291839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345643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≤10%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977639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Churn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24281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هدف شهري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خطة 12 شهر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من MVP إلى إيراد متكرر قابل للقياس.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251460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3794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21992"/>
            <a:ext cx="2185416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PMF مع 50–100 مستخدم، D7، activation، interviews.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1691640"/>
            <a:ext cx="251460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83794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221992"/>
            <a:ext cx="2185416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500 MAU، 75 اشتراك مدفوع، تحسين onboarding.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1691640"/>
            <a:ext cx="251460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83794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Q1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221992"/>
            <a:ext cx="2185416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Pilot/شراكة بنك التنمية، paywall محسّن.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0304" y="1691640"/>
            <a:ext cx="251460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4896" y="183794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Q2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2221992"/>
            <a:ext cx="2185416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2,000 MAU، 400 اشتراك، 15–25k MRR.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المخاطر الاستثمارية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نسمّي الافتراضات بدل إخفائها.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3657600" cy="566928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72184"/>
            <a:ext cx="3328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WTP غير مثبت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25880"/>
            <a:ext cx="6583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1" y="1472184"/>
            <a:ext cx="62544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اختبارات pricing ومقابلات دفع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148840"/>
            <a:ext cx="3657600" cy="566928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295144"/>
            <a:ext cx="3328416" cy="310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إعداد الوصفات متعب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148840"/>
            <a:ext cx="6583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1" y="2295144"/>
            <a:ext cx="6254496" cy="310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قوالب جاهزة + white glove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971800"/>
            <a:ext cx="3657600" cy="566928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118104"/>
            <a:ext cx="3328416" cy="310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شراكة البنك قد تتأخر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971800"/>
            <a:ext cx="6583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1" y="3118104"/>
            <a:ext cx="6254496" cy="310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قنوات مجتمع ومؤثرين بالتوازي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94760"/>
            <a:ext cx="3657600" cy="566928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941064"/>
            <a:ext cx="3328416" cy="310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منافس يقلد الرسالة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794760"/>
            <a:ext cx="6583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1" y="3941064"/>
            <a:ext cx="6254496" cy="310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التسريع في community + data + 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617720"/>
            <a:ext cx="3657600" cy="566928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764024"/>
            <a:ext cx="3328416" cy="310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امتثال ZATCA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617720"/>
            <a:ext cx="6583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1" y="4764024"/>
            <a:ext cx="6254496" cy="310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لا ادعاء اعتماد، مسار شريك لاحقًا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What we are raising / 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الشريحة قابلة للتعديل حسب المرحلة التمويلية.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241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400" b="1">
                <a:solidFill>
                  <a:srgbClr val="0F7353"/>
                </a:solidFill>
                <a:latin typeface="Tajawal"/>
              </a:rPr>
              <a:t>الطلب الحالي ليس “نمو بأي ثمن”، بل تمويل أو دعم يكفي لإثبات PMF، إكمال مسار الدفع، وتشغيل Pilot عالي الجودة.</a:t>
            </a:r>
          </a:p>
        </p:txBody>
      </p:sp>
      <p:sp>
        <p:nvSpPr>
          <p:cNvPr id="11" name="Oval 10"/>
          <p:cNvSpPr/>
          <p:nvPr/>
        </p:nvSpPr>
        <p:spPr>
          <a:xfrm>
            <a:off x="10735055" y="317296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9491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استخدام التمويل: المنتج، onboarding، customer discovery، pilot support.</a:t>
            </a:r>
          </a:p>
        </p:txBody>
      </p:sp>
      <p:sp>
        <p:nvSpPr>
          <p:cNvPr id="13" name="Oval 12"/>
          <p:cNvSpPr/>
          <p:nvPr/>
        </p:nvSpPr>
        <p:spPr>
          <a:xfrm>
            <a:off x="10735055" y="367588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9491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معالم قرار: retention، paid conversion، CAC channel signal.</a:t>
            </a:r>
          </a:p>
        </p:txBody>
      </p:sp>
      <p:sp>
        <p:nvSpPr>
          <p:cNvPr id="15" name="Oval 14"/>
          <p:cNvSpPr/>
          <p:nvPr/>
        </p:nvSpPr>
        <p:spPr>
          <a:xfrm>
            <a:off x="10735055" y="41788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9491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بعدها فقط: توسع مبيعات وشراكات وتكاملات.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