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88920" cy="5166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6112" y="1124712"/>
            <a:ext cx="2459736" cy="640080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71016"/>
            <a:ext cx="2240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01914"/>
                </a:solidFill>
                <a:latin typeface="Tajawal"/>
              </a:rPr>
              <a:t>الرئيسية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947672"/>
            <a:ext cx="2386584" cy="1115568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14883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7353"/>
                </a:solidFill>
                <a:latin typeface="Tajawal"/>
              </a:rPr>
              <a:t>صافي الربح
١٬٨٤٠ ر.س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35584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347472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المبيعات     ٣٬٥٠٠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395020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406908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المصاريف       ٩٦٠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454456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466344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لي عند         ٣٢٠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513892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525780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مخزون منخفض   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89920" y="566928"/>
            <a:ext cx="658368" cy="65836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5852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371600"/>
            <a:ext cx="374903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4200" b="1">
                <a:solidFill>
                  <a:srgbClr val="FFFFFF"/>
                </a:solidFill>
                <a:latin typeface="Tajawal"/>
              </a:rPr>
              <a:t>دفتر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423160"/>
            <a:ext cx="37947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800" b="1">
                <a:solidFill>
                  <a:srgbClr val="FFFFFF"/>
                </a:solidFill>
                <a:latin typeface="Tajawal"/>
              </a:rPr>
              <a:t>عرض شراكة وتمكين مالي لبنك التنمية الاجتماعية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977639"/>
            <a:ext cx="3657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D1FAE5"/>
                </a:solidFill>
                <a:latin typeface="Tajawal"/>
              </a:rPr>
              <a:t>كيف يصبح دفتر أداة يومية تساعد المستفيد يعرف ربحه، يحسن سجلاته، ويكبر بثقة.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5943600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0">
                <a:solidFill>
                  <a:srgbClr val="D1FAE5"/>
                </a:solidFill>
                <a:latin typeface="Tajawal"/>
              </a:rPr>
              <a:t>نسخة مفصلة · Pilot مقترح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الملخص التنفيذي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الشراكة المقترحة: تجربة صغيرة، أثر واضح، ثم توسع مبني على بيانات.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11009376" y="152704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9948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دفتر يخدم الأعمال الصغيرة جدًا والفردية والمنزلية بلغة بسيطة لا محاسبية.</a:t>
            </a:r>
          </a:p>
        </p:txBody>
      </p:sp>
      <p:sp>
        <p:nvSpPr>
          <p:cNvPr id="12" name="Oval 11"/>
          <p:cNvSpPr/>
          <p:nvPr/>
        </p:nvSpPr>
        <p:spPr>
          <a:xfrm>
            <a:off x="11009376" y="2057400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47672"/>
            <a:ext cx="9948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الألم الأساسي لدى المستفيد: لا يعرف صافي الربح الحقيقي، ولا يتابع المستحقات بدقة.</a:t>
            </a:r>
          </a:p>
        </p:txBody>
      </p:sp>
      <p:sp>
        <p:nvSpPr>
          <p:cNvPr id="14" name="Oval 13"/>
          <p:cNvSpPr/>
          <p:nvPr/>
        </p:nvSpPr>
        <p:spPr>
          <a:xfrm>
            <a:off x="11009376" y="2587752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78024"/>
            <a:ext cx="9948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يقترح دفتر Pilot لمدة 3 أشهر مع 50–100 مستفيد، مع دعم مباشر وتقرير أثر مجمع مجهول.</a:t>
            </a:r>
          </a:p>
        </p:txBody>
      </p:sp>
      <p:sp>
        <p:nvSpPr>
          <p:cNvPr id="16" name="Oval 15"/>
          <p:cNvSpPr/>
          <p:nvPr/>
        </p:nvSpPr>
        <p:spPr>
          <a:xfrm>
            <a:off x="11009376" y="3118104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08376"/>
            <a:ext cx="9948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القيمة للبنك: تمكين مالي عملي، رفع جاهزية التمويل، ومؤشرات أثر قابلة للقياس.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سياق المستفيد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المستفيد لا يحتاج “نظام ERP”، بل أداة تساعده يعرف أين يقف.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3337560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88366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الأعمال المنزلية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267712"/>
            <a:ext cx="3008376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تبيع عبر واتساب، غالبًا من الجوال، وتحتاج معرفة الربح والتكلفة.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737360"/>
            <a:ext cx="3337560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188366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الفردية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267712"/>
            <a:ext cx="3008376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دخل متفرق، عملاء متعددون، تحويلات، وفواتير بسيطة.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737360"/>
            <a:ext cx="3337560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188366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الصغيرة جدًا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2267712"/>
            <a:ext cx="3008376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1–5 أشخاص، بلا محاسب، وحاجتها الأساسية تنظيم يومي.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المشكلة التي يعالجها دفتر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غياب السجل المالي اليومي يقلل جودة القرار والتمويل.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10826496" y="152704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تسعير بالحدس لا بالتكلفة.</a:t>
            </a:r>
          </a:p>
        </p:txBody>
      </p:sp>
      <p:sp>
        <p:nvSpPr>
          <p:cNvPr id="12" name="Oval 11"/>
          <p:cNvSpPr/>
          <p:nvPr/>
        </p:nvSpPr>
        <p:spPr>
          <a:xfrm>
            <a:off x="10826496" y="2093976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84248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ديون ومبالغ غير محصلة تُنسى.</a:t>
            </a:r>
          </a:p>
        </p:txBody>
      </p:sp>
      <p:sp>
        <p:nvSpPr>
          <p:cNvPr id="14" name="Oval 13"/>
          <p:cNvSpPr/>
          <p:nvPr/>
        </p:nvSpPr>
        <p:spPr>
          <a:xfrm>
            <a:off x="10826496" y="2660904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51176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لا يوجد تقرير شهري واضح للدخل والمصاريف والربح.</a:t>
            </a:r>
          </a:p>
        </p:txBody>
      </p:sp>
      <p:sp>
        <p:nvSpPr>
          <p:cNvPr id="16" name="Oval 15"/>
          <p:cNvSpPr/>
          <p:nvPr/>
        </p:nvSpPr>
        <p:spPr>
          <a:xfrm>
            <a:off x="10826496" y="3227832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18104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صعوبة إثبات انتظام النشاط عند طلب تمويل أو تطوير المشروع.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17720"/>
            <a:ext cx="10241280" cy="914400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764024"/>
            <a:ext cx="9912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الأثر العملي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148072"/>
            <a:ext cx="9912096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دفتر يحوّل السؤال من “كم دخل علي؟” إلى “كم ربحت فعلاً بعد التكلفة والمصاريف؟”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ما هو دفتر؟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برنامج محاسبي بسيط، محلي، عربي RTL، ومصمم للجوال.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051560"/>
            <a:ext cx="2788920" cy="5166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1832" y="1216151"/>
            <a:ext cx="2459736" cy="640080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362456"/>
            <a:ext cx="22402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01914"/>
                </a:solidFill>
                <a:latin typeface="Tajawal"/>
              </a:rPr>
              <a:t>الرئيسية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" y="2039112"/>
            <a:ext cx="2386584" cy="1115568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221991"/>
            <a:ext cx="214883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7353"/>
                </a:solidFill>
                <a:latin typeface="Tajawal"/>
              </a:rPr>
              <a:t>صافي الربح
١٬٨٤٠ ر.س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" y="344728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" y="356616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المبيعات     ٣٬٥٠٠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" y="404164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16052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المصاريف       ٩٦٠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" y="463600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" y="475488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لي عند         ٣٢٠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" y="523036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" y="534924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101914"/>
                </a:solidFill>
                <a:latin typeface="Tajawal"/>
              </a:rPr>
              <a:t>مخزون منخفض   ٣</a:t>
            </a:r>
          </a:p>
        </p:txBody>
      </p:sp>
      <p:sp>
        <p:nvSpPr>
          <p:cNvPr id="23" name="Oval 22"/>
          <p:cNvSpPr/>
          <p:nvPr/>
        </p:nvSpPr>
        <p:spPr>
          <a:xfrm>
            <a:off x="10917936" y="161848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1508760"/>
            <a:ext cx="619963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فاتورة بسيطة وإرسال عبر واتساب.</a:t>
            </a:r>
          </a:p>
        </p:txBody>
      </p:sp>
      <p:sp>
        <p:nvSpPr>
          <p:cNvPr id="25" name="Oval 24"/>
          <p:cNvSpPr/>
          <p:nvPr/>
        </p:nvSpPr>
        <p:spPr>
          <a:xfrm>
            <a:off x="10917936" y="2185416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075688"/>
            <a:ext cx="619963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مبيعات، مصاريف، مشتريات، ومخزون.</a:t>
            </a:r>
          </a:p>
        </p:txBody>
      </p:sp>
      <p:sp>
        <p:nvSpPr>
          <p:cNvPr id="27" name="Oval 26"/>
          <p:cNvSpPr/>
          <p:nvPr/>
        </p:nvSpPr>
        <p:spPr>
          <a:xfrm>
            <a:off x="10917936" y="2752344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642616"/>
            <a:ext cx="619963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حاسبة تكلفة المنتج من الوصفة والمواد الخام.</a:t>
            </a:r>
          </a:p>
        </p:txBody>
      </p:sp>
      <p:sp>
        <p:nvSpPr>
          <p:cNvPr id="29" name="Oval 28"/>
          <p:cNvSpPr/>
          <p:nvPr/>
        </p:nvSpPr>
        <p:spPr>
          <a:xfrm>
            <a:off x="10917936" y="3319272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209544"/>
            <a:ext cx="619963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قائمة “لي عند الزباين” للتحصيل.</a:t>
            </a:r>
          </a:p>
        </p:txBody>
      </p:sp>
      <p:sp>
        <p:nvSpPr>
          <p:cNvPr id="31" name="Oval 30"/>
          <p:cNvSpPr/>
          <p:nvPr/>
        </p:nvSpPr>
        <p:spPr>
          <a:xfrm>
            <a:off x="10917936" y="3886200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776472"/>
            <a:ext cx="6199631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تقرير شهري لصافي الربح.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لماذا يناسب بنك التنمية؟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لأنه يخدم ما بعد التمويل: الاستدامة، الانضباط، وقياس الأثر.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417320"/>
            <a:ext cx="4800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563624"/>
            <a:ext cx="4471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تمكين مالي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47672"/>
            <a:ext cx="447141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المستفيد يرى الربح والتكلفة بدل التخمين.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417320"/>
            <a:ext cx="4800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563624"/>
            <a:ext cx="4471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جاهزية تمويل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447141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سجل مبسط يساعد الحوار حول الأداء.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46120"/>
            <a:ext cx="4800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92424"/>
            <a:ext cx="4471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بيانات أثر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776472"/>
            <a:ext cx="4471416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تقرير مجمع مجهول عن الاستخدام والنتائج.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3246120"/>
            <a:ext cx="4800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3392424"/>
            <a:ext cx="4471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تجربة محلية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3776472"/>
            <a:ext cx="4471416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لغة السوق السعودية لا مصطلحات المحاسبين.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تصميم الـ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نبدأ بمجموعة صغيرة لتقليل المخاطر ورفع جودة التعلم.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3337560" cy="3840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70078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النطاق</a:t>
            </a:r>
          </a:p>
        </p:txBody>
      </p:sp>
      <p:sp>
        <p:nvSpPr>
          <p:cNvPr id="12" name="Oval 11"/>
          <p:cNvSpPr/>
          <p:nvPr/>
        </p:nvSpPr>
        <p:spPr>
          <a:xfrm>
            <a:off x="3739896" y="235000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240280"/>
            <a:ext cx="25420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101914"/>
                </a:solidFill>
                <a:latin typeface="Tajawal"/>
              </a:rPr>
              <a:t>50–100 مستفيد</a:t>
            </a:r>
          </a:p>
        </p:txBody>
      </p:sp>
      <p:sp>
        <p:nvSpPr>
          <p:cNvPr id="14" name="Oval 13"/>
          <p:cNvSpPr/>
          <p:nvPr/>
        </p:nvSpPr>
        <p:spPr>
          <a:xfrm>
            <a:off x="3739896" y="280720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697480"/>
            <a:ext cx="25420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101914"/>
                </a:solidFill>
                <a:latin typeface="Tajawal"/>
              </a:rPr>
              <a:t>3 أشهر</a:t>
            </a:r>
          </a:p>
        </p:txBody>
      </p:sp>
      <p:sp>
        <p:nvSpPr>
          <p:cNvPr id="16" name="Oval 15"/>
          <p:cNvSpPr/>
          <p:nvPr/>
        </p:nvSpPr>
        <p:spPr>
          <a:xfrm>
            <a:off x="3739896" y="326440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154680"/>
            <a:ext cx="25420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101914"/>
                </a:solidFill>
                <a:latin typeface="Tajawal"/>
              </a:rPr>
              <a:t>أعمال منزلية وفردية نشطة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554480"/>
            <a:ext cx="3337560" cy="3840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170078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الدعم</a:t>
            </a:r>
          </a:p>
        </p:txBody>
      </p:sp>
      <p:sp>
        <p:nvSpPr>
          <p:cNvPr id="20" name="Oval 19"/>
          <p:cNvSpPr/>
          <p:nvPr/>
        </p:nvSpPr>
        <p:spPr>
          <a:xfrm>
            <a:off x="7488936" y="235000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2240280"/>
            <a:ext cx="25420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101914"/>
                </a:solidFill>
                <a:latin typeface="Tajawal"/>
              </a:rPr>
              <a:t>تهيئة بسيطة</a:t>
            </a:r>
          </a:p>
        </p:txBody>
      </p:sp>
      <p:sp>
        <p:nvSpPr>
          <p:cNvPr id="22" name="Oval 21"/>
          <p:cNvSpPr/>
          <p:nvPr/>
        </p:nvSpPr>
        <p:spPr>
          <a:xfrm>
            <a:off x="7488936" y="280720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2697480"/>
            <a:ext cx="25420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101914"/>
                </a:solidFill>
                <a:latin typeface="Tajawal"/>
              </a:rPr>
              <a:t>متابعة أسبوعية</a:t>
            </a:r>
          </a:p>
        </p:txBody>
      </p:sp>
      <p:sp>
        <p:nvSpPr>
          <p:cNvPr id="24" name="Oval 23"/>
          <p:cNvSpPr/>
          <p:nvPr/>
        </p:nvSpPr>
        <p:spPr>
          <a:xfrm>
            <a:off x="7488936" y="326440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3154680"/>
            <a:ext cx="25420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101914"/>
                </a:solidFill>
                <a:latin typeface="Tajawal"/>
              </a:rPr>
              <a:t>قناة دعم واتساب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554480"/>
            <a:ext cx="3337560" cy="3840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85632" y="170078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القياس</a:t>
            </a:r>
          </a:p>
        </p:txBody>
      </p:sp>
      <p:sp>
        <p:nvSpPr>
          <p:cNvPr id="28" name="Oval 27"/>
          <p:cNvSpPr/>
          <p:nvPr/>
        </p:nvSpPr>
        <p:spPr>
          <a:xfrm>
            <a:off x="11237976" y="235000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2240280"/>
            <a:ext cx="25420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101914"/>
                </a:solidFill>
                <a:latin typeface="Tajawal"/>
              </a:rPr>
              <a:t>WAU</a:t>
            </a:r>
          </a:p>
        </p:txBody>
      </p:sp>
      <p:sp>
        <p:nvSpPr>
          <p:cNvPr id="30" name="Oval 29"/>
          <p:cNvSpPr/>
          <p:nvPr/>
        </p:nvSpPr>
        <p:spPr>
          <a:xfrm>
            <a:off x="11237976" y="280720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2697480"/>
            <a:ext cx="25420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101914"/>
                </a:solidFill>
                <a:latin typeface="Tajawal"/>
              </a:rPr>
              <a:t>Activation</a:t>
            </a:r>
          </a:p>
        </p:txBody>
      </p:sp>
      <p:sp>
        <p:nvSpPr>
          <p:cNvPr id="32" name="Oval 31"/>
          <p:cNvSpPr/>
          <p:nvPr/>
        </p:nvSpPr>
        <p:spPr>
          <a:xfrm>
            <a:off x="11237976" y="326440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3154680"/>
            <a:ext cx="25420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101914"/>
                </a:solidFill>
                <a:latin typeface="Tajawal"/>
              </a:rPr>
              <a:t>D7/D30 Retention</a:t>
            </a:r>
          </a:p>
        </p:txBody>
      </p:sp>
      <p:sp>
        <p:nvSpPr>
          <p:cNvPr id="34" name="Oval 33"/>
          <p:cNvSpPr/>
          <p:nvPr/>
        </p:nvSpPr>
        <p:spPr>
          <a:xfrm>
            <a:off x="11237976" y="372160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611880"/>
            <a:ext cx="254203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101914"/>
                </a:solidFill>
                <a:latin typeface="Tajawal"/>
              </a:rPr>
              <a:t>رضا ومعرفة الربح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ما الذي يحصل عليه البنك؟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مخرجات واضحة بدون كشف بيانات شخصية.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8</a:t>
            </a:r>
          </a:p>
        </p:txBody>
      </p:sp>
      <p:sp>
        <p:nvSpPr>
          <p:cNvPr id="10" name="Oval 9"/>
          <p:cNvSpPr/>
          <p:nvPr/>
        </p:nvSpPr>
        <p:spPr>
          <a:xfrm>
            <a:off x="10826496" y="152704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تقرير شهري مجمع مجهول: عدد المستخدمين النشطين، الفواتير، المصاريف، المنتجات، والتحصيل.</a:t>
            </a:r>
          </a:p>
        </p:txBody>
      </p:sp>
      <p:sp>
        <p:nvSpPr>
          <p:cNvPr id="12" name="Oval 11"/>
          <p:cNvSpPr/>
          <p:nvPr/>
        </p:nvSpPr>
        <p:spPr>
          <a:xfrm>
            <a:off x="10826496" y="207568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رؤية على أكثر نقاط التعثر: التسعير، التكلفة، التحصيل، أو المخزون.</a:t>
            </a:r>
          </a:p>
        </p:txBody>
      </p:sp>
      <p:sp>
        <p:nvSpPr>
          <p:cNvPr id="14" name="Oval 13"/>
          <p:cNvSpPr/>
          <p:nvPr/>
        </p:nvSpPr>
        <p:spPr>
          <a:xfrm>
            <a:off x="10826496" y="262432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14600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قصص نجاح مختارة بموافقة أصحابها لاستخدامها في التمكين والتوعية.</a:t>
            </a:r>
          </a:p>
        </p:txBody>
      </p:sp>
      <p:sp>
        <p:nvSpPr>
          <p:cNvPr id="16" name="Oval 15"/>
          <p:cNvSpPr/>
          <p:nvPr/>
        </p:nvSpPr>
        <p:spPr>
          <a:xfrm>
            <a:off x="10826496" y="317296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63240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قرار واضح بعد التجربة: توسع، تعديل، أو إيقاف.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مؤشرات النجاح المقترحة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نقيس السلوك الفعلي لا الانطباعات فقط.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58191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≥60%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103120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Activation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36829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أول فاتورة/مصروف خلال 24 ساعة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417320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58191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≥40%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103120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D7 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36829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عودة أسبوع أول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417320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158191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≥25%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2103120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D30 Retention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236829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عادة شهرية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91839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45643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≥50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977639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NPS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24281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استعداد للتوصية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291839"/>
            <a:ext cx="32461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0872" y="3456432"/>
            <a:ext cx="29169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100" b="1">
                <a:solidFill>
                  <a:srgbClr val="0F7353"/>
                </a:solidFill>
                <a:latin typeface="Tajawal"/>
              </a:rPr>
              <a:t>50–100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3977639"/>
            <a:ext cx="2916936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1">
                <a:solidFill>
                  <a:srgbClr val="101914"/>
                </a:solidFill>
                <a:latin typeface="Tajawal"/>
              </a:rPr>
              <a:t>Pilot 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4242816"/>
            <a:ext cx="2916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00" b="0">
                <a:solidFill>
                  <a:srgbClr val="6B7280"/>
                </a:solidFill>
                <a:latin typeface="Tajawal"/>
              </a:rPr>
              <a:t>عينة قابلة للدعم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الامتثال والحدود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نحمي سمعة الشراكة بالوضوح.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10</a:t>
            </a:r>
          </a:p>
        </p:txBody>
      </p:sp>
      <p:sp>
        <p:nvSpPr>
          <p:cNvPr id="10" name="Oval 9"/>
          <p:cNvSpPr/>
          <p:nvPr/>
        </p:nvSpPr>
        <p:spPr>
          <a:xfrm>
            <a:off x="10826496" y="152704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550" b="0">
                <a:solidFill>
                  <a:srgbClr val="101914"/>
                </a:solidFill>
                <a:latin typeface="Tajawal"/>
              </a:rPr>
              <a:t>لا ندّعي أن دفتر “معتمد من ZATCA” قبل تحقق رسمي.</a:t>
            </a:r>
          </a:p>
        </p:txBody>
      </p:sp>
      <p:sp>
        <p:nvSpPr>
          <p:cNvPr id="12" name="Oval 11"/>
          <p:cNvSpPr/>
          <p:nvPr/>
        </p:nvSpPr>
        <p:spPr>
          <a:xfrm>
            <a:off x="10826496" y="2057400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47672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550" b="0">
                <a:solidFill>
                  <a:srgbClr val="101914"/>
                </a:solidFill>
                <a:latin typeface="Tajawal"/>
              </a:rPr>
              <a:t>ZATCA توضح أن المرحلة الثانية للفوترة الإلكترونية تشمل الربط التكامل تدريجيًا للمكلفين، وأن حد التسجيل الإلزامي للأفراد في VAT هو 375,000 ريال سنويًا.</a:t>
            </a:r>
          </a:p>
        </p:txBody>
      </p:sp>
      <p:sp>
        <p:nvSpPr>
          <p:cNvPr id="14" name="Oval 13"/>
          <p:cNvSpPr/>
          <p:nvPr/>
        </p:nvSpPr>
        <p:spPr>
          <a:xfrm>
            <a:off x="10826496" y="2587752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78024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550" b="0">
                <a:solidFill>
                  <a:srgbClr val="101914"/>
                </a:solidFill>
                <a:latin typeface="Tajawal"/>
              </a:rPr>
              <a:t>دفتر يخدم الحسابات اليومية، ومع نمو العميل يمكن تصميم مسار توافق عبر شريك معتمد عند الحاجة.</a:t>
            </a:r>
          </a:p>
        </p:txBody>
      </p:sp>
      <p:sp>
        <p:nvSpPr>
          <p:cNvPr id="16" name="Oval 15"/>
          <p:cNvSpPr/>
          <p:nvPr/>
        </p:nvSpPr>
        <p:spPr>
          <a:xfrm>
            <a:off x="10826496" y="3118104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08376"/>
            <a:ext cx="976579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550" b="0">
                <a:solidFill>
                  <a:srgbClr val="101914"/>
                </a:solidFill>
                <a:latin typeface="Tajawal"/>
              </a:rPr>
              <a:t>البيانات المشتركة مع البنك تكون مجمعة ومجهولة فقط.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خطة التنفيذ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من اجتماع أول إلى تقرير أثر.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7510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أسبوع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59152"/>
            <a:ext cx="2185416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اختيار العينة وتحديد رسائل الدعوة.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4448" y="18288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97510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أسابيع 2–3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359152"/>
            <a:ext cx="2185416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تهيئة المستخدمين والدعم المكثف.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7376" y="18288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97510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أسابيع 4–10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359152"/>
            <a:ext cx="2185416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متابعة الاستخدام وتحسين onboarding.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90304" y="18288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54896" y="1975104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80" b="1">
                <a:solidFill>
                  <a:srgbClr val="0F7353"/>
                </a:solidFill>
                <a:latin typeface="Tajawal"/>
              </a:rPr>
              <a:t>أسبوع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6" y="2359152"/>
            <a:ext cx="2185416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30" b="0">
                <a:solidFill>
                  <a:srgbClr val="6B7280"/>
                </a:solidFill>
                <a:latin typeface="Tajawal"/>
              </a:rPr>
              <a:t>تقرير أثر وقرار التوسع.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438912"/>
            <a:ext cx="475488" cy="47548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4572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3891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101914"/>
                </a:solidFill>
                <a:latin typeface="Tajawal"/>
              </a:rPr>
              <a:t>الطلب من بنك التنمية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978408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6B7280"/>
                </a:solidFill>
                <a:latin typeface="Tajawal"/>
              </a:rPr>
              <a:t>قرار صغير الآن، تعلّم كبير خلال 3 أشهر.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20877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500" b="1">
                <a:solidFill>
                  <a:srgbClr val="0F7353"/>
                </a:solidFill>
                <a:latin typeface="Tajawal"/>
              </a:rPr>
              <a:t>نقترح إطلاق Pilot مع 50–100 نشاط منزلي/فردي، يهدف إلى قياس: هل يساعد دفتر المستفيدين على معرفة ربحهم وتحسين انتظام سجلاتهم؟</a:t>
            </a:r>
          </a:p>
        </p:txBody>
      </p:sp>
      <p:sp>
        <p:nvSpPr>
          <p:cNvPr id="11" name="Oval 10"/>
          <p:cNvSpPr/>
          <p:nvPr/>
        </p:nvSpPr>
        <p:spPr>
          <a:xfrm>
            <a:off x="10735055" y="326440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9491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نحتاج: موافقة مبدئية، ترشيح عينة، وقناة تعريف.</a:t>
            </a:r>
          </a:p>
        </p:txBody>
      </p:sp>
      <p:sp>
        <p:nvSpPr>
          <p:cNvPr id="13" name="Oval 12"/>
          <p:cNvSpPr/>
          <p:nvPr/>
        </p:nvSpPr>
        <p:spPr>
          <a:xfrm>
            <a:off x="10735055" y="376732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57600"/>
            <a:ext cx="9491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نقدم: التطبيق، الدعم، والتحليل المجمع المجهول.</a:t>
            </a:r>
          </a:p>
        </p:txBody>
      </p:sp>
      <p:sp>
        <p:nvSpPr>
          <p:cNvPr id="15" name="Oval 14"/>
          <p:cNvSpPr/>
          <p:nvPr/>
        </p:nvSpPr>
        <p:spPr>
          <a:xfrm>
            <a:off x="10735055" y="4270248"/>
            <a:ext cx="68580" cy="6858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60520"/>
            <a:ext cx="94914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مخرج القرار: شراكة أوسع أو تحسين مستهدف قبل التوسع.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