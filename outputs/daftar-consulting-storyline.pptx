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67367" y="786384"/>
            <a:ext cx="1965960" cy="310896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قصة استشارية عن دفتر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578047" y="1417320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دفتر يجب أن يبدأ من الأسر المنتجة لا من المحاسبة التقليدية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49647" y="28163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عرض منفصل بأسلوب McKinsey / BCG / Bain: SCQA، dot-dash، عناوين فعلية، وتدفق شرائح واضح.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709928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الخلاصة التنفيذية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9264" y="2167128"/>
            <a:ext cx="28986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وعد دفتر هو معرفة الربح في 10 ثوان، فالأولوية ليست بناء نظام محاسبي شامل؛ الأولوية هي امتلاك لحظة يومية واحدة: فاتورة، مصروف، وربح واضح.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132527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عرض قرار · دفتر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92047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الرسالة الرئيسية: دفتر يفوز عندما يختصر المحاسبة إلى قرار يومي بسيط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657807" y="14447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هذه هي القصة التي سيحملها العرض من أول شريحة إلى آخر شريحة.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75320" y="1965960"/>
            <a:ext cx="2880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97312" y="222199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86216" y="225856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الفئة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86216" y="2715768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أسر منتجة ومشاريع صغيرة تبيع عبر واتساب، بلا خبرة محاسبية وبوقت ضيق.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617720" y="1965960"/>
            <a:ext cx="2880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9712" y="222199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28616" y="225856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الألم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28616" y="2715768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تعرف الربح الحقيقي، من لم يدفع، ولا تكلفة المنتج بدقة.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60120" y="1965960"/>
            <a:ext cx="2880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222199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71016" y="225856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الحل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71016" y="2715768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دفتر حساب عربي جوال أولًا: فواتير، مصاريف، مخزون، وربح شهري واضح.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065008" y="2971800"/>
            <a:ext cx="-402336" cy="0"/>
          </a:xfrm>
          <a:prstGeom prst="line">
            <a:avLst/>
          </a:prstGeom>
          <a:noFill/>
          <a:ln w="15240">
            <a:solidFill>
              <a:srgbClr val="0F7353"/>
            </a:solidFill>
            <a:prstDash val="solid"/>
            <a:headEnd type="triangl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4407408" y="2971800"/>
            <a:ext cx="-402336" cy="0"/>
          </a:xfrm>
          <a:prstGeom prst="line">
            <a:avLst/>
          </a:prstGeom>
          <a:noFill/>
          <a:ln w="15240">
            <a:solidFill>
              <a:srgbClr val="0F7353"/>
            </a:solidFill>
            <a:prstDash val="solid"/>
            <a:headEnd type="triangl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32527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دفتر · SCR/SCQA · Dot-dash · Slide skeleton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92047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SCQA يجعل فرصة دفتر سؤالًا استثماريًا وتشغيليًا واحدًا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657807" y="14447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القصة لا تبدأ بالميزات؛ تبدأ بتغير في السوق يخلق قرارًا.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41080" y="182880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0152" y="208483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51976" y="212140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Situation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51976" y="2578608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البيع المنزلي والعمل الحر أصبحا قنوات دخل واسعة ومشروعة في السعودية.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5806440" y="182880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25512" y="208483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17336" y="212140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Complication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17336" y="2578608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الأدوات الموجودة صُممت للشركات، بينما الفئة تدير العمل عبر واتساب ودفتر ورقي.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971800" y="182880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208483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Q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82696" y="212140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Question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82696" y="2578608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 نساعدها تعرف ربحها بدون أن نجعلها تتعلم محاسبة؟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137160" y="182880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56232" y="208483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" y="212140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Answer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8056" y="2578608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نبني دفتر حول لحظة الربح: سجل البيع، اخصم التكلفة، اعرف المتبقي.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10881360" y="4572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01000" y="45902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الموقف</a:t>
            </a:r>
            <a:endParaRPr lang="en-US" sz="1160" dirty="0"/>
          </a:p>
        </p:txBody>
      </p:sp>
      <p:sp>
        <p:nvSpPr>
          <p:cNvPr id="23" name="Text 21"/>
          <p:cNvSpPr/>
          <p:nvPr/>
        </p:nvSpPr>
        <p:spPr>
          <a:xfrm>
            <a:off x="914400" y="460857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السوق كبير، لكن أدواته اليومية بدائية.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10881360" y="51755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01000" y="51937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التعقيد</a:t>
            </a:r>
            <a:endParaRPr lang="en-US" sz="1160" dirty="0"/>
          </a:p>
        </p:txBody>
      </p:sp>
      <p:sp>
        <p:nvSpPr>
          <p:cNvPr id="26" name="Text 24"/>
          <p:cNvSpPr/>
          <p:nvPr/>
        </p:nvSpPr>
        <p:spPr>
          <a:xfrm>
            <a:off x="914400" y="5212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البديل المهني ثقيل، والبديل البسيط لا يعطي قرارًا.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10881360" y="57790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01000" y="57972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السؤال</a:t>
            </a:r>
            <a:endParaRPr lang="en-US" sz="1160" dirty="0"/>
          </a:p>
        </p:txBody>
      </p:sp>
      <p:sp>
        <p:nvSpPr>
          <p:cNvPr id="29" name="Text 27"/>
          <p:cNvSpPr/>
          <p:nvPr/>
        </p:nvSpPr>
        <p:spPr>
          <a:xfrm>
            <a:off x="914400" y="581558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ما أقل تجربة تجعل المستخدمة تثق برقم الربح؟</a:t>
            </a:r>
            <a:endParaRPr lang="en-US" sz="1010" dirty="0"/>
          </a:p>
        </p:txBody>
      </p:sp>
      <p:sp>
        <p:nvSpPr>
          <p:cNvPr id="30" name="Text 28"/>
          <p:cNvSpPr/>
          <p:nvPr/>
        </p:nvSpPr>
        <p:spPr>
          <a:xfrm>
            <a:off x="10881360" y="63825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01000" y="6400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914400" y="64190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منتج عربي بسيط يربط الفاتورة بالمصروف والتكلفة.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03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132527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دفتر · SCR/SCQA · Dot-dash · Slide skeleton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92047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SCR يحول دفتر من تطبيق ميزات إلى رحلة تغيير للمستخدمة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657807" y="14447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الوعد ليس “إدارة مالية”، بل الانتقال من التخمين إلى معرفة الربح.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001000" y="1965960"/>
            <a:ext cx="3108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51592" y="222199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11896" y="225856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Situation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11896" y="2715768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المستخدمة تبيع، تستلم تحويلات، وتسجل بعض الأشياء في الورق أو الذاكرة.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507992" y="1965960"/>
            <a:ext cx="3108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58584" y="222199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18888" y="225856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Complication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18888" y="2715768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آخر الشهر لا تعرف هل المنتج يربح، ومن دفع، وكم بقي لها عند الزباين.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1005840" y="1965960"/>
            <a:ext cx="3108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22199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16736" y="225856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Resolution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16736" y="2715768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دفتر يجعل كل بيع يضيف رقمًا واضحًا إلى الربح والمديونية والمخزون.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818120" y="2971800"/>
            <a:ext cx="-411480" cy="0"/>
          </a:xfrm>
          <a:prstGeom prst="line">
            <a:avLst/>
          </a:prstGeom>
          <a:noFill/>
          <a:ln w="15240">
            <a:solidFill>
              <a:srgbClr val="0F7353"/>
            </a:solidFill>
            <a:prstDash val="solid"/>
            <a:headEnd type="triangl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4315968" y="2971800"/>
            <a:ext cx="-402336" cy="0"/>
          </a:xfrm>
          <a:prstGeom prst="line">
            <a:avLst/>
          </a:prstGeom>
          <a:noFill/>
          <a:ln w="15240">
            <a:solidFill>
              <a:srgbClr val="0F7353"/>
            </a:solidFill>
            <a:prstDash val="solid"/>
            <a:headEnd type="triangl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005840" y="4572000"/>
            <a:ext cx="10104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16736" y="4864608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جملة القصة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16736" y="5321808"/>
            <a:ext cx="9482328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“أبيع كثيرًا ولا أعرف ربحي” إلى “أفتح دفتر وأعرف ربحي هذا الشهر في 10 ثوان”.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132527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دفتر · SCR/SCQA · Dot-dash · Slide skeleton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92047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Dot-dash storyline يثبت أن الأولوية هي لحظة الربح لا كثرة الميزات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657807" y="14447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اكتب المنطق أولًا، ثم حوّله إلى شرائح.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01852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38160" y="19842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التوصية</a:t>
            </a:r>
            <a:endParaRPr lang="en-US" sz="1160" dirty="0"/>
          </a:p>
        </p:txBody>
      </p:sp>
      <p:sp>
        <p:nvSpPr>
          <p:cNvPr id="7" name="Text 5"/>
          <p:cNvSpPr/>
          <p:nvPr/>
        </p:nvSpPr>
        <p:spPr>
          <a:xfrm>
            <a:off x="960120" y="200253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ركّز MVP على بائعات الطعام المنزلي في الرياض وجدة.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11018520" y="25694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38160" y="2587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سبب التركيز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960120" y="26060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لديهن تكرار طلبات عالٍ، تكلفة مكونات واضحة، وألم ربح مباشر.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11018520" y="31729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38160" y="31912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المشكلة الحرجة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960120" y="320954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الربح يضيع بين السعر، الخامات، التوصيل، والمديونية.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11018520" y="37764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38160" y="3794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التجربة الفائزة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960120" y="38130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فاتورة سريعة + مصروف سريع + تقرير ربح شهري في شاشة واحدة.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11018520" y="43799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43982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التحقق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960120" y="44165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نقيس تفعيل أول فاتورة خلال 24 ساعة، D7 retention، ومعرفة الربح.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960120" y="5440680"/>
            <a:ext cx="10241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71016" y="5733288"/>
            <a:ext cx="9582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اختبار الجودة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271016" y="6190488"/>
            <a:ext cx="9619488" cy="-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نقطة يمكن أن تصبح عنوان شريحة. وكل شرطة تحتها هي الدليل أو التصميم الذي يثبتها.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132527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دفتر · SCR/SCQA · Dot-dash · Slide skeleton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92047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العنوان الفعلي يجعل كل شريحة في عرض دفتر تحمل استنتاجًا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657807" y="14447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تكتب موضوع الشريحة؛ اكتب ما تريد من القارئ أن يصدقه.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63640" y="2011680"/>
            <a:ext cx="4892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74536" y="2304288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عنوان موضوعي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74536" y="2761488"/>
            <a:ext cx="4270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المستخدمون المستهدفون</a:t>
            </a:r>
            <a:endParaRPr lang="en-US" sz="1020" dirty="0"/>
          </a:p>
          <a:p>
            <a:pPr algn="r" indent="0" marL="0">
              <a:buNone/>
            </a:pP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يوضح المجال فقط، لكنه لا يقول لماذا هذه الفئة مهمة.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960120" y="2011680"/>
            <a:ext cx="4892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1016" y="2304288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عنوان فعلي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71016" y="2761488"/>
            <a:ext cx="4270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بائعات الطعام المنزلي أفضل نقطة بداية لأن ألم الربح يومي ومتكرر</a:t>
            </a:r>
            <a:endParaRPr lang="en-US" sz="1020" dirty="0"/>
          </a:p>
          <a:p>
            <a:pPr algn="r" indent="0" marL="0">
              <a:buNone/>
            </a:pP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هذا عنوان يعلن الاستنتاج ويطلب من الجسم إثباته.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960120" y="4617720"/>
            <a:ext cx="10195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71016" y="4910328"/>
            <a:ext cx="9537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قاعدة تطبيقية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71016" y="5367528"/>
            <a:ext cx="9573768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قرأ المستثمر عناوين الشرائح فقط، يجب أن يفهم لماذا دفتر، ولماذا الآن، ولماذا هذه الفئة، وماذا سنبني أولًا.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32527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دفتر · SCR/SCQA · Dot-dash · Slide skeleton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92047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التدفق الأفقي يحكي قصة دفتر من السوق إلى الخطة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657807" y="14447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شريحة يجب أن تجعل التالية ضرورية.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961120" y="22860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34472" y="254203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72016" y="257860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السوق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72016" y="3035808"/>
            <a:ext cx="170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العمل الحر والأسر المنتجة كبير، لكن أدواته اليومية ضعيفة.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8796528" y="3310128"/>
            <a:ext cx="-338328" cy="0"/>
          </a:xfrm>
          <a:prstGeom prst="line">
            <a:avLst/>
          </a:prstGeom>
          <a:noFill/>
          <a:ln w="15240">
            <a:solidFill>
              <a:srgbClr val="0F7353"/>
            </a:solidFill>
            <a:prstDash val="solid"/>
            <a:headEnd type="triangl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172200" y="22860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45552" y="254203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83096" y="257860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الألم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83096" y="3035808"/>
            <a:ext cx="170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الربح والمديونية وتكلفة المنتج غير مرئية.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007608" y="3310128"/>
            <a:ext cx="-338328" cy="0"/>
          </a:xfrm>
          <a:prstGeom prst="line">
            <a:avLst/>
          </a:prstGeom>
          <a:noFill/>
          <a:ln w="15240">
            <a:solidFill>
              <a:srgbClr val="0F7353"/>
            </a:solidFill>
            <a:prstDash val="solid"/>
            <a:headEnd type="triangl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3383280" y="22860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56632" y="254203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94176" y="257860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94176" y="3035808"/>
            <a:ext cx="170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دفتر يبني حول لحظة ربح واضحة لا حول نظام محاسبي كامل.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3218688" y="3310128"/>
            <a:ext cx="-338328" cy="0"/>
          </a:xfrm>
          <a:prstGeom prst="line">
            <a:avLst/>
          </a:prstGeom>
          <a:noFill/>
          <a:ln w="15240">
            <a:solidFill>
              <a:srgbClr val="0F7353"/>
            </a:solidFill>
            <a:prstDash val="solid"/>
            <a:headEnd type="triangl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94360" y="22860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67712" y="254203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5256" y="257860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5256" y="3035808"/>
            <a:ext cx="170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MVP مركز، ثم نمو مباشر، ثم شراكات B2B2C.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07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132527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دفتر · SCR/SCQA · Dot-dash · Slide skeleton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92047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التدفق العمودي يثبت عنوان الشريحة بدون أن يضيع القارئ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657807" y="14447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عنوان واحد، ثلاثة أدلة، ثم معنى عملي.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0120" y="1874520"/>
            <a:ext cx="101955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71016" y="2167128"/>
            <a:ext cx="9537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بائعات الطعام المنزلي أفضل نقطة بداية لأن ألم الربح يومي ومتكرر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71016" y="2624328"/>
            <a:ext cx="957376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452360" y="297180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63256" y="326440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الدليل 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63256" y="372160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15–30 طلبًا أسبوعيًا يخلق تكرار استخدام طبيعي.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434840" y="297180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45736" y="326440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الدليل 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45736" y="372160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المكونات والتغليف والتوصيل تجعل هامش المنتج غير بديهي.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1417320" y="297180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28216" y="326440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المعنى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728216" y="372160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ابدأ بحاسبة تكلفة + فاتورة + تقرير ربح قبل ميزات التوسع.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08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132527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دفتر · SCR/SCQA · Dot-dash · Slide skeleton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92047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Slide skeleton لعرض دفتر يربط كل شريحة بدليل وقرار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657807" y="14447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هذا هو الهيكل العملي قبل التصميم النهائي.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60920" y="1920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80560" y="19385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عنوان فعلي</a:t>
            </a:r>
            <a:endParaRPr lang="en-US" sz="1160" dirty="0"/>
          </a:p>
        </p:txBody>
      </p:sp>
      <p:sp>
        <p:nvSpPr>
          <p:cNvPr id="7" name="Text 5"/>
          <p:cNvSpPr/>
          <p:nvPr/>
        </p:nvSpPr>
        <p:spPr>
          <a:xfrm>
            <a:off x="960120" y="19568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الاستنتاج الذي نريد إثباته في الشريحة.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7360920" y="252374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25420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المعرض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96012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مقارنة، رحلة مستخدمة، جدول فجوة، أو لوحة منتج.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7360920" y="31272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31455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النقاط الداعمة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960120" y="31638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3 أدلة كحد أقصى حتى لا تتحول الشريحة إلى تقرير.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7360920" y="3730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3749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المعنى العملي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96012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ماذا يعني هذا للـ MVP أو النمو أو الشراكة؟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7360920" y="43342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43525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الانتقال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960120" y="4370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لماذا تقود هذه الشريحة إلى الشريحة التالية؟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7909560" y="1920240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0456" y="2212848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مثال skeleton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0456" y="2670048"/>
            <a:ext cx="262432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العنوان: دفتر يبدأ من الربح لا المحاسبة</a:t>
            </a:r>
            <a:endParaRPr lang="en-US" sz="1020" dirty="0"/>
          </a:p>
          <a:p>
            <a:pPr algn="r" indent="0" marL="0">
              <a:buNone/>
            </a:pP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المعرض: رحلة من واتساب إلى الربح الشهري</a:t>
            </a:r>
            <a:endParaRPr lang="en-US" sz="1020" dirty="0"/>
          </a:p>
          <a:p>
            <a:pPr algn="r" indent="0" marL="0">
              <a:buNone/>
            </a:pP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الدعم: فاتورة، مصروف، تكلفة منتج</a:t>
            </a:r>
            <a:endParaRPr lang="en-US" sz="1020" dirty="0"/>
          </a:p>
          <a:p>
            <a:pPr algn="r" indent="0" marL="0">
              <a:buNone/>
            </a:pPr>
            <a:endParaRPr lang="en-US" sz="1020" dirty="0"/>
          </a:p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المعنى: MVP بثلاث لحظات فقط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09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132527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دفتر · SCR/SCQA · Dot-dash · Slide skeleton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92047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MVP دفتر يجب أن يثبت ثلاث فرضيات قبل التوسع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657807" y="14447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التحقق الاستشاري يحمي المنتج من بناء نظام أكبر من حاجة البداية.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001000" y="1965960"/>
            <a:ext cx="3108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51592" y="222199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11896" y="225856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فرضية الألم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11896" y="2715768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المستخدمة تريد فعلًا معرفة الربح، أم تكتفي بتسجيل المبيعات؟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507992" y="1965960"/>
            <a:ext cx="3108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58584" y="222199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18888" y="225856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فرضية السلوك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18888" y="2715768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ستسجل الفاتورة والمصروف في لحظة العمل، لا آخر الشهر؟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1005840" y="1965960"/>
            <a:ext cx="3108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22199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16736" y="225856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فرضية الدفع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16736" y="2715768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ترى قيمة شهرية تستحق 29–49 ريال بعد إثبات الفائدة؟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1005840" y="4572000"/>
            <a:ext cx="10104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16736" y="4864608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مؤشرات النجاح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16736" y="5321808"/>
            <a:ext cx="9482328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Activation: أول فاتورة خلال 24 ساعة · D7 retention ≥ 40% · NPS ≥ 50 · Free-to-paid ≥ 15% بعد PMF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132527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دفتر · SCR/SCQA · Dot-dash · Slide skeleton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92047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خارطة النمو تبدأ بعضوية مباشرة ثم تتحول إلى شراكات موثوقة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657807" y="14447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التوسع لا يبدأ بإعلان واسع؛ يبدأ بقناة لها ثقة موجودة.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001000" y="192024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51592" y="217627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11896" y="221284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المرحلة 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11896" y="2670048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اكتساب مباشر عبر مجتمعات واتساب ومحتوى تعليمي لبائعات الطعام المنزلي.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507992" y="192024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58584" y="217627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18888" y="221284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المرحلة 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18888" y="2670048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نمو بالإحالة: فاتورة PDF تجعل العميل يرى دفتر ويسأل عنه.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1005840" y="192024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176272"/>
            <a:ext cx="384048" cy="384048"/>
          </a:xfrm>
          <a:prstGeom prst="rect">
            <a:avLst/>
          </a:prstGeom>
          <a:solidFill>
            <a:srgbClr val="EEFD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35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16736" y="221284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المرحلة 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16736" y="2670048"/>
            <a:ext cx="2487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B2B2C مع جهات مثل بنك التنمية لتوزيع موثوق وبيانات أثر مجمعة.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0698480" y="468172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18120" y="47000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الأصل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1005840" y="471830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الثقة المحلية أهم من الإنفاق الإعلاني المبكر.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10698480" y="52852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18120" y="5303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الحل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1005840" y="532180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اجعل كل فاتورة وكل تقرير قناة نمو صغيرة.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132527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دفتر · SCR/SCQA · Dot-dash · Slide skeleton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420624" cy="420624"/>
          </a:xfrm>
          <a:prstGeom prst="rect">
            <a:avLst/>
          </a:prstGeom>
          <a:solidFill>
            <a:srgbClr val="0F73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92047" y="749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الخلاصة: قصة دفتر الاستثمارية هي البساطة المركزة لا شمولية المحاسبة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657807" y="14447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هذه هي الرسالة التي يجب أن تبقى ثابتة في كل نسخة من العرض.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97280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92440" y="19842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دفتر؟</a:t>
            </a:r>
            <a:endParaRPr lang="en-US" sz="1160" dirty="0"/>
          </a:p>
        </p:txBody>
      </p:sp>
      <p:sp>
        <p:nvSpPr>
          <p:cNvPr id="7" name="Text 5"/>
          <p:cNvSpPr/>
          <p:nvPr/>
        </p:nvSpPr>
        <p:spPr>
          <a:xfrm>
            <a:off x="1005840" y="20025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لأن الفئة لا تحتاج برنامج محاسبة؛ تحتاج رقم ربح تثق به.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10972800" y="25694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92440" y="2587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الآن؟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لأن البيع المنزلي والعمل الحر أصبحا رسميين ورقميين، لكن الأدوات متأخرة.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10972800" y="31729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31912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سنفوز؟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1005840" y="320954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لأن المنتج مصمم بلغة السوق، للجوال، ولحظة القرار اليومية.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10972800" y="37764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7353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92440" y="3794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6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بعد؟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1005840" y="38130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1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– MVP مركز، قياس صارم، ثم شراكة توزيع تثبت الأثر.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1005840" y="5166360"/>
            <a:ext cx="10104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0F73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16736" y="5458968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91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جملة الإغلاق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16736" y="5916168"/>
            <a:ext cx="9482328" cy="-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دفتر — حساباتك، بلغتك. اعرف ربحك قبل أن يكبر التخمين.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58368" y="6355080"/>
            <a:ext cx="1087495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6464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132527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دفتر — صنع في السعودية، للسعودية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jaw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jaw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Daftar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دفتر — عرض استشاري بأسلوب McKinsey / BCG / Bain</dc:title>
  <dc:subject>Daftar consulting-style storyline</dc:subject>
  <dc:creator>Daftar</dc:creator>
  <cp:lastModifiedBy>Daftar</cp:lastModifiedBy>
  <cp:revision>1</cp:revision>
  <dcterms:created xsi:type="dcterms:W3CDTF">2026-07-24T13:42:10Z</dcterms:created>
  <dcterms:modified xsi:type="dcterms:W3CDTF">2026-07-24T13:42:10Z</dcterms:modified>
</cp:coreProperties>
</file>